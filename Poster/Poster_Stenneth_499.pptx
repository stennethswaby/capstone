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29260800" cx="36576000"/>
  <p:notesSz cx="7772400" cy="10058400"/>
  <p:embeddedFontLst>
    <p:embeddedFont>
      <p:font typeface="Gill Sans"/>
      <p:regular r:id="rId7"/>
      <p:bold r:id="rId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9" roundtripDataSignature="AMtx7mgJP12bY+aCz2SRizWIYpMq8EGx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A4E7872-0812-4765-81A9-F5A6F7A6E2E7}">
  <a:tblStyle styleId="{7A4E7872-0812-4765-81A9-F5A6F7A6E2E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GillSans-regular.fntdata"/><Relationship Id="rId8" Type="http://schemas.openxmlformats.org/officeDocument/2006/relationships/font" Target="fonts/GillSa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title"/>
          </p:nvPr>
        </p:nvSpPr>
        <p:spPr>
          <a:xfrm>
            <a:off x="2743200" y="4788720"/>
            <a:ext cx="31089240" cy="101865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 name="Google Shape;12;p3"/>
          <p:cNvSpPr txBox="1"/>
          <p:nvPr>
            <p:ph idx="1" type="subTitle"/>
          </p:nvPr>
        </p:nvSpPr>
        <p:spPr>
          <a:xfrm>
            <a:off x="1828800" y="6846840"/>
            <a:ext cx="32918040" cy="169707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 name="Google Shape;13;p3"/>
          <p:cNvSpPr txBox="1"/>
          <p:nvPr>
            <p:ph idx="11" type="ftr"/>
          </p:nvPr>
        </p:nvSpPr>
        <p:spPr>
          <a:xfrm>
            <a:off x="12115800" y="27120600"/>
            <a:ext cx="12344040" cy="155736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
          <p:cNvSpPr txBox="1"/>
          <p:nvPr>
            <p:ph idx="12" type="sldNum"/>
          </p:nvPr>
        </p:nvSpPr>
        <p:spPr>
          <a:xfrm>
            <a:off x="25831800" y="27120600"/>
            <a:ext cx="8229240" cy="155736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88888"/>
              </a:buClr>
              <a:buSzPts val="4800"/>
              <a:buFont typeface="Calibri"/>
              <a:buNone/>
              <a:defRPr b="0" sz="4800" strike="noStrike">
                <a:solidFill>
                  <a:srgbClr val="888888"/>
                </a:solidFill>
                <a:latin typeface="Calibri"/>
                <a:ea typeface="Calibri"/>
                <a:cs typeface="Calibri"/>
                <a:sym typeface="Calibri"/>
              </a:defRPr>
            </a:lvl1pPr>
            <a:lvl2pPr indent="0" lvl="1" marL="0" algn="r">
              <a:lnSpc>
                <a:spcPct val="100000"/>
              </a:lnSpc>
              <a:spcBef>
                <a:spcPts val="0"/>
              </a:spcBef>
              <a:buClr>
                <a:srgbClr val="888888"/>
              </a:buClr>
              <a:buSzPts val="4800"/>
              <a:buFont typeface="Calibri"/>
              <a:buNone/>
              <a:defRPr b="0" sz="4800" strike="noStrike">
                <a:solidFill>
                  <a:srgbClr val="888888"/>
                </a:solidFill>
                <a:latin typeface="Calibri"/>
                <a:ea typeface="Calibri"/>
                <a:cs typeface="Calibri"/>
                <a:sym typeface="Calibri"/>
              </a:defRPr>
            </a:lvl2pPr>
            <a:lvl3pPr indent="0" lvl="2" marL="0" algn="r">
              <a:lnSpc>
                <a:spcPct val="100000"/>
              </a:lnSpc>
              <a:spcBef>
                <a:spcPts val="0"/>
              </a:spcBef>
              <a:buClr>
                <a:srgbClr val="888888"/>
              </a:buClr>
              <a:buSzPts val="4800"/>
              <a:buFont typeface="Calibri"/>
              <a:buNone/>
              <a:defRPr b="0" sz="4800" strike="noStrike">
                <a:solidFill>
                  <a:srgbClr val="888888"/>
                </a:solidFill>
                <a:latin typeface="Calibri"/>
                <a:ea typeface="Calibri"/>
                <a:cs typeface="Calibri"/>
                <a:sym typeface="Calibri"/>
              </a:defRPr>
            </a:lvl3pPr>
            <a:lvl4pPr indent="0" lvl="3" marL="0" algn="r">
              <a:lnSpc>
                <a:spcPct val="100000"/>
              </a:lnSpc>
              <a:spcBef>
                <a:spcPts val="0"/>
              </a:spcBef>
              <a:buClr>
                <a:srgbClr val="888888"/>
              </a:buClr>
              <a:buSzPts val="4800"/>
              <a:buFont typeface="Calibri"/>
              <a:buNone/>
              <a:defRPr b="0" sz="4800" strike="noStrike">
                <a:solidFill>
                  <a:srgbClr val="888888"/>
                </a:solidFill>
                <a:latin typeface="Calibri"/>
                <a:ea typeface="Calibri"/>
                <a:cs typeface="Calibri"/>
                <a:sym typeface="Calibri"/>
              </a:defRPr>
            </a:lvl4pPr>
            <a:lvl5pPr indent="0" lvl="4" marL="0" algn="r">
              <a:lnSpc>
                <a:spcPct val="100000"/>
              </a:lnSpc>
              <a:spcBef>
                <a:spcPts val="0"/>
              </a:spcBef>
              <a:buClr>
                <a:srgbClr val="888888"/>
              </a:buClr>
              <a:buSzPts val="4800"/>
              <a:buFont typeface="Calibri"/>
              <a:buNone/>
              <a:defRPr b="0" sz="4800" strike="noStrike">
                <a:solidFill>
                  <a:srgbClr val="888888"/>
                </a:solidFill>
                <a:latin typeface="Calibri"/>
                <a:ea typeface="Calibri"/>
                <a:cs typeface="Calibri"/>
                <a:sym typeface="Calibri"/>
              </a:defRPr>
            </a:lvl5pPr>
            <a:lvl6pPr indent="0" lvl="5" marL="0" algn="r">
              <a:lnSpc>
                <a:spcPct val="100000"/>
              </a:lnSpc>
              <a:spcBef>
                <a:spcPts val="0"/>
              </a:spcBef>
              <a:buClr>
                <a:srgbClr val="888888"/>
              </a:buClr>
              <a:buSzPts val="4800"/>
              <a:buFont typeface="Calibri"/>
              <a:buNone/>
              <a:defRPr b="0" sz="4800" strike="noStrike">
                <a:solidFill>
                  <a:srgbClr val="888888"/>
                </a:solidFill>
                <a:latin typeface="Calibri"/>
                <a:ea typeface="Calibri"/>
                <a:cs typeface="Calibri"/>
                <a:sym typeface="Calibri"/>
              </a:defRPr>
            </a:lvl6pPr>
            <a:lvl7pPr indent="0" lvl="6" marL="0" algn="r">
              <a:lnSpc>
                <a:spcPct val="100000"/>
              </a:lnSpc>
              <a:spcBef>
                <a:spcPts val="0"/>
              </a:spcBef>
              <a:buClr>
                <a:srgbClr val="888888"/>
              </a:buClr>
              <a:buSzPts val="4800"/>
              <a:buFont typeface="Calibri"/>
              <a:buNone/>
              <a:defRPr b="0" sz="4800" strike="noStrike">
                <a:solidFill>
                  <a:srgbClr val="888888"/>
                </a:solidFill>
                <a:latin typeface="Calibri"/>
                <a:ea typeface="Calibri"/>
                <a:cs typeface="Calibri"/>
                <a:sym typeface="Calibri"/>
              </a:defRPr>
            </a:lvl7pPr>
            <a:lvl8pPr indent="0" lvl="7" marL="0" algn="r">
              <a:lnSpc>
                <a:spcPct val="100000"/>
              </a:lnSpc>
              <a:spcBef>
                <a:spcPts val="0"/>
              </a:spcBef>
              <a:buClr>
                <a:srgbClr val="888888"/>
              </a:buClr>
              <a:buSzPts val="4800"/>
              <a:buFont typeface="Calibri"/>
              <a:buNone/>
              <a:defRPr b="0" sz="4800" strike="noStrike">
                <a:solidFill>
                  <a:srgbClr val="888888"/>
                </a:solidFill>
                <a:latin typeface="Calibri"/>
                <a:ea typeface="Calibri"/>
                <a:cs typeface="Calibri"/>
                <a:sym typeface="Calibri"/>
              </a:defRPr>
            </a:lvl8pPr>
            <a:lvl9pPr indent="0" lvl="8" marL="0" algn="r">
              <a:lnSpc>
                <a:spcPct val="100000"/>
              </a:lnSpc>
              <a:spcBef>
                <a:spcPts val="0"/>
              </a:spcBef>
              <a:buClr>
                <a:srgbClr val="888888"/>
              </a:buClr>
              <a:buSzPts val="4800"/>
              <a:buFont typeface="Calibri"/>
              <a:buNone/>
              <a:defRPr b="0" sz="4800"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3"/>
          <p:cNvSpPr txBox="1"/>
          <p:nvPr>
            <p:ph idx="10" type="dt"/>
          </p:nvPr>
        </p:nvSpPr>
        <p:spPr>
          <a:xfrm>
            <a:off x="2514600" y="27120600"/>
            <a:ext cx="8229240" cy="155736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2743200" y="4788720"/>
            <a:ext cx="31089240" cy="1018656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p2"/>
          <p:cNvSpPr txBox="1"/>
          <p:nvPr>
            <p:ph idx="10" type="dt"/>
          </p:nvPr>
        </p:nvSpPr>
        <p:spPr>
          <a:xfrm>
            <a:off x="2514600" y="27120600"/>
            <a:ext cx="8229240" cy="155736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4800"/>
              <a:buFont typeface="Calibri"/>
              <a:buNone/>
              <a:defRPr b="0" i="0" sz="4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p2"/>
          <p:cNvSpPr txBox="1"/>
          <p:nvPr>
            <p:ph idx="11" type="ftr"/>
          </p:nvPr>
        </p:nvSpPr>
        <p:spPr>
          <a:xfrm>
            <a:off x="12115800" y="27120600"/>
            <a:ext cx="12344040" cy="155736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 name="Google Shape;9;p2"/>
          <p:cNvSpPr txBox="1"/>
          <p:nvPr>
            <p:ph idx="12" type="sldNum"/>
          </p:nvPr>
        </p:nvSpPr>
        <p:spPr>
          <a:xfrm>
            <a:off x="25831800" y="27120600"/>
            <a:ext cx="8229240" cy="155736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Clr>
                <a:srgbClr val="888888"/>
              </a:buClr>
              <a:buSzPts val="4800"/>
              <a:buFont typeface="Calibri"/>
              <a:buNone/>
              <a:defRPr b="0" i="0" sz="4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buClr>
                <a:srgbClr val="888888"/>
              </a:buClr>
              <a:buSzPts val="4800"/>
              <a:buFont typeface="Calibri"/>
              <a:buNone/>
              <a:defRPr b="0" i="0" sz="4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buClr>
                <a:srgbClr val="888888"/>
              </a:buClr>
              <a:buSzPts val="4800"/>
              <a:buFont typeface="Calibri"/>
              <a:buNone/>
              <a:defRPr b="0" i="0" sz="4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buClr>
                <a:srgbClr val="888888"/>
              </a:buClr>
              <a:buSzPts val="4800"/>
              <a:buFont typeface="Calibri"/>
              <a:buNone/>
              <a:defRPr b="0" i="0" sz="4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buClr>
                <a:srgbClr val="888888"/>
              </a:buClr>
              <a:buSzPts val="4800"/>
              <a:buFont typeface="Calibri"/>
              <a:buNone/>
              <a:defRPr b="0" i="0" sz="4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buClr>
                <a:srgbClr val="888888"/>
              </a:buClr>
              <a:buSzPts val="4800"/>
              <a:buFont typeface="Calibri"/>
              <a:buNone/>
              <a:defRPr b="0" i="0" sz="4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buClr>
                <a:srgbClr val="888888"/>
              </a:buClr>
              <a:buSzPts val="4800"/>
              <a:buFont typeface="Calibri"/>
              <a:buNone/>
              <a:defRPr b="0" i="0" sz="4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buClr>
                <a:srgbClr val="888888"/>
              </a:buClr>
              <a:buSzPts val="4800"/>
              <a:buFont typeface="Calibri"/>
              <a:buNone/>
              <a:defRPr b="0" i="0" sz="4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buClr>
                <a:srgbClr val="888888"/>
              </a:buClr>
              <a:buSzPts val="4800"/>
              <a:buFont typeface="Calibri"/>
              <a:buNone/>
              <a:defRPr b="0" i="0" sz="4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emanual.robotis.com/docs/en/platform/turtlebot3/quick-start/" TargetMode="External"/><Relationship Id="rId4" Type="http://schemas.openxmlformats.org/officeDocument/2006/relationships/hyperlink" Target="https://articulatedrobotics.xyz/category/getting-ready-to-build-a-ros-robot" TargetMode="External"/><Relationship Id="rId10" Type="http://schemas.openxmlformats.org/officeDocument/2006/relationships/image" Target="../media/image4.png"/><Relationship Id="rId9"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5.png"/><Relationship Id="rId8"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 name="Shape 19"/>
        <p:cNvGrpSpPr/>
        <p:nvPr/>
      </p:nvGrpSpPr>
      <p:grpSpPr>
        <a:xfrm>
          <a:off x="0" y="0"/>
          <a:ext cx="0" cy="0"/>
          <a:chOff x="0" y="0"/>
          <a:chExt cx="0" cy="0"/>
        </a:xfrm>
      </p:grpSpPr>
      <p:sp>
        <p:nvSpPr>
          <p:cNvPr id="20" name="Google Shape;20;p1"/>
          <p:cNvSpPr txBox="1"/>
          <p:nvPr>
            <p:ph type="title"/>
          </p:nvPr>
        </p:nvSpPr>
        <p:spPr>
          <a:xfrm>
            <a:off x="0" y="455760"/>
            <a:ext cx="36575640" cy="195444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ts val="990"/>
              <a:buFont typeface="Arial"/>
              <a:buNone/>
            </a:pPr>
            <a:r>
              <a:rPr b="1" lang="en-US" sz="7200">
                <a:solidFill>
                  <a:schemeClr val="dk1"/>
                </a:solidFill>
                <a:latin typeface="Gill Sans"/>
                <a:ea typeface="Gill Sans"/>
                <a:cs typeface="Gill Sans"/>
                <a:sym typeface="Gill Sans"/>
              </a:rPr>
              <a:t>SLAM Map Comparison Study Between</a:t>
            </a:r>
            <a:endParaRPr b="1" sz="7200">
              <a:solidFill>
                <a:schemeClr val="dk1"/>
              </a:solidFill>
              <a:latin typeface="Gill Sans"/>
              <a:ea typeface="Gill Sans"/>
              <a:cs typeface="Gill Sans"/>
              <a:sym typeface="Gill Sans"/>
            </a:endParaRPr>
          </a:p>
          <a:p>
            <a:pPr indent="0" lvl="0" marL="0" rtl="0" algn="ctr">
              <a:lnSpc>
                <a:spcPct val="90000"/>
              </a:lnSpc>
              <a:spcBef>
                <a:spcPts val="0"/>
              </a:spcBef>
              <a:spcAft>
                <a:spcPts val="0"/>
              </a:spcAft>
              <a:buClr>
                <a:schemeClr val="dk1"/>
              </a:buClr>
              <a:buSzPts val="990"/>
              <a:buFont typeface="Arial"/>
              <a:buNone/>
            </a:pPr>
            <a:r>
              <a:rPr b="1" lang="en-US" sz="7200">
                <a:solidFill>
                  <a:schemeClr val="dk1"/>
                </a:solidFill>
                <a:latin typeface="Gill Sans"/>
                <a:ea typeface="Gill Sans"/>
                <a:cs typeface="Gill Sans"/>
                <a:sym typeface="Gill Sans"/>
              </a:rPr>
              <a:t>Slam Toolbox and Cartographer</a:t>
            </a:r>
            <a:endParaRPr b="1" sz="7200">
              <a:solidFill>
                <a:schemeClr val="dk1"/>
              </a:solidFill>
              <a:latin typeface="Gill Sans"/>
              <a:ea typeface="Gill Sans"/>
              <a:cs typeface="Gill Sans"/>
              <a:sym typeface="Gill Sans"/>
            </a:endParaRPr>
          </a:p>
        </p:txBody>
      </p:sp>
      <p:sp>
        <p:nvSpPr>
          <p:cNvPr id="21" name="Google Shape;21;p1"/>
          <p:cNvSpPr/>
          <p:nvPr/>
        </p:nvSpPr>
        <p:spPr>
          <a:xfrm>
            <a:off x="652320" y="5552640"/>
            <a:ext cx="11742000" cy="10013400"/>
          </a:xfrm>
          <a:prstGeom prst="rect">
            <a:avLst/>
          </a:prstGeom>
          <a:noFill/>
          <a:ln cap="flat" cmpd="sng" w="203200">
            <a:solidFill>
              <a:srgbClr val="595959"/>
            </a:solidFill>
            <a:prstDash val="solid"/>
            <a:round/>
            <a:headEnd len="sm" w="sm" type="none"/>
            <a:tailEnd len="sm" w="sm" type="none"/>
          </a:ln>
        </p:spPr>
        <p:txBody>
          <a:bodyPr anchorCtr="0" anchor="t" bIns="182875" lIns="90000" spcFirstLastPara="1" rIns="274300" wrap="square" tIns="45000">
            <a:spAutoFit/>
          </a:bodyPr>
          <a:lstStyle/>
          <a:p>
            <a:pPr indent="0" lvl="0" marL="0" marR="0" rtl="0" algn="ctr">
              <a:lnSpc>
                <a:spcPct val="150000"/>
              </a:lnSpc>
              <a:spcBef>
                <a:spcPts val="0"/>
              </a:spcBef>
              <a:spcAft>
                <a:spcPts val="0"/>
              </a:spcAft>
              <a:buNone/>
            </a:pPr>
            <a:r>
              <a:rPr b="1" i="0" lang="en-US" sz="4400" u="none" cap="none" strike="noStrike">
                <a:solidFill>
                  <a:schemeClr val="dk1"/>
                </a:solidFill>
                <a:latin typeface="Calibri"/>
                <a:ea typeface="Calibri"/>
                <a:cs typeface="Calibri"/>
                <a:sym typeface="Calibri"/>
              </a:rPr>
              <a:t>MOTIVATION</a:t>
            </a:r>
            <a:endParaRPr b="0" i="0" sz="4400" u="none" cap="none" strike="noStrike">
              <a:solidFill>
                <a:srgbClr val="000000"/>
              </a:solidFill>
              <a:latin typeface="Arial"/>
              <a:ea typeface="Arial"/>
              <a:cs typeface="Arial"/>
              <a:sym typeface="Arial"/>
            </a:endParaRPr>
          </a:p>
          <a:p>
            <a:pPr indent="0" lvl="0" marL="914400" marR="0" rtl="0" algn="l">
              <a:lnSpc>
                <a:spcPct val="100000"/>
              </a:lnSpc>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914400" marR="0" rtl="0" algn="l">
              <a:lnSpc>
                <a:spcPct val="100000"/>
              </a:lnSpc>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914400" marR="0" rtl="0" algn="l">
              <a:lnSpc>
                <a:spcPct val="100000"/>
              </a:lnSpc>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914400" marR="0" rtl="0" algn="l">
              <a:lnSpc>
                <a:spcPct val="100000"/>
              </a:lnSpc>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914400" marR="0" rtl="0" algn="l">
              <a:lnSpc>
                <a:spcPct val="100000"/>
              </a:lnSpc>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900">
              <a:solidFill>
                <a:schemeClr val="dk1"/>
              </a:solidFill>
              <a:latin typeface="Times New Roman"/>
              <a:ea typeface="Times New Roman"/>
              <a:cs typeface="Times New Roman"/>
              <a:sym typeface="Times New Roman"/>
            </a:endParaRPr>
          </a:p>
          <a:p>
            <a:pPr indent="-349250" lvl="1" marL="914400" rtl="0" algn="l">
              <a:lnSpc>
                <a:spcPct val="100000"/>
              </a:lnSpc>
              <a:spcBef>
                <a:spcPts val="0"/>
              </a:spcBef>
              <a:spcAft>
                <a:spcPts val="0"/>
              </a:spcAft>
              <a:buSzPts val="1900"/>
              <a:buFont typeface="Noto Sans Symbols"/>
              <a:buChar char="❑"/>
            </a:pPr>
            <a:r>
              <a:rPr lang="en-US" sz="1900">
                <a:solidFill>
                  <a:schemeClr val="dk1"/>
                </a:solidFill>
              </a:rPr>
              <a:t>The TurtleBot 3 platform with ROS2 offers an ideal setup for testing and comparing modern SLAM algorithms. However, implementations such as Cartographer and SLAM Toolbox can generate maps of varying quality even under identical conditions.</a:t>
            </a:r>
            <a:endParaRPr sz="1900">
              <a:solidFill>
                <a:schemeClr val="dk1"/>
              </a:solidFill>
            </a:endParaRPr>
          </a:p>
          <a:p>
            <a:pPr indent="0" lvl="0" marL="914400" rtl="0" algn="l">
              <a:lnSpc>
                <a:spcPct val="100000"/>
              </a:lnSpc>
              <a:spcBef>
                <a:spcPts val="0"/>
              </a:spcBef>
              <a:spcAft>
                <a:spcPts val="0"/>
              </a:spcAft>
              <a:buNone/>
            </a:pPr>
            <a:r>
              <a:t/>
            </a:r>
            <a:endParaRPr sz="1900">
              <a:solidFill>
                <a:schemeClr val="dk1"/>
              </a:solidFill>
            </a:endParaRPr>
          </a:p>
          <a:p>
            <a:pPr indent="-374650" lvl="1" marL="914400" marR="0" rtl="0" algn="l">
              <a:lnSpc>
                <a:spcPct val="100000"/>
              </a:lnSpc>
              <a:spcBef>
                <a:spcPts val="0"/>
              </a:spcBef>
              <a:spcAft>
                <a:spcPts val="0"/>
              </a:spcAft>
              <a:buClr>
                <a:schemeClr val="dk1"/>
              </a:buClr>
              <a:buSzPts val="1900"/>
              <a:buFont typeface="Noto Sans Symbols"/>
              <a:buChar char="❑"/>
            </a:pPr>
            <a:r>
              <a:rPr lang="en-US" sz="1900">
                <a:solidFill>
                  <a:schemeClr val="dk1"/>
                </a:solidFill>
              </a:rPr>
              <a:t>This study is motivated by the need to evaluate and quantify these differences to determine which algorithm produces more consistent, geometrically accurate maps in both simulation and real-world environments. Understanding these variations will help improve future autonomous navigation projects that rely on precise localization and mapping.</a:t>
            </a:r>
            <a:endParaRPr sz="1900">
              <a:solidFill>
                <a:schemeClr val="dk1"/>
              </a:solidFill>
            </a:endParaRPr>
          </a:p>
          <a:p>
            <a:pPr indent="0" lvl="0" marL="914400" marR="0" rtl="0" algn="l">
              <a:lnSpc>
                <a:spcPct val="100000"/>
              </a:lnSpc>
              <a:spcBef>
                <a:spcPts val="0"/>
              </a:spcBef>
              <a:spcAft>
                <a:spcPts val="0"/>
              </a:spcAft>
              <a:buNone/>
            </a:pPr>
            <a:r>
              <a:t/>
            </a:r>
            <a:endParaRPr sz="1900">
              <a:solidFill>
                <a:schemeClr val="dk1"/>
              </a:solidFill>
            </a:endParaRPr>
          </a:p>
          <a:p>
            <a:pPr indent="-349250" lvl="1" marL="914400" rtl="0" algn="l">
              <a:lnSpc>
                <a:spcPct val="100000"/>
              </a:lnSpc>
              <a:spcBef>
                <a:spcPts val="0"/>
              </a:spcBef>
              <a:spcAft>
                <a:spcPts val="0"/>
              </a:spcAft>
              <a:buClr>
                <a:schemeClr val="dk1"/>
              </a:buClr>
              <a:buSzPts val="1900"/>
              <a:buChar char="❑"/>
            </a:pPr>
            <a:r>
              <a:rPr lang="en-US" sz="1900">
                <a:solidFill>
                  <a:schemeClr val="dk1"/>
                </a:solidFill>
              </a:rPr>
              <a:t>By improving SLAM accuracy and reliability, we move closer to solving challenges such as loop closure, where a robot correctly recognizes and aligns previously visited areas. </a:t>
            </a:r>
            <a:endParaRPr sz="1900">
              <a:solidFill>
                <a:schemeClr val="dk1"/>
              </a:solidFill>
            </a:endParaRPr>
          </a:p>
          <a:p>
            <a:pPr indent="0" lvl="0" marL="914400" marR="0" rtl="0" algn="l">
              <a:lnSpc>
                <a:spcPct val="100000"/>
              </a:lnSpc>
              <a:spcBef>
                <a:spcPts val="0"/>
              </a:spcBef>
              <a:spcAft>
                <a:spcPts val="0"/>
              </a:spcAft>
              <a:buNone/>
            </a:pPr>
            <a:r>
              <a:t/>
            </a:r>
            <a:endParaRPr sz="1500">
              <a:solidFill>
                <a:schemeClr val="dk1"/>
              </a:solidFill>
            </a:endParaRPr>
          </a:p>
          <a:p>
            <a:pPr indent="0" lvl="0" marL="914400" marR="0" rtl="0" algn="l">
              <a:lnSpc>
                <a:spcPct val="10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p:txBody>
      </p:sp>
      <p:sp>
        <p:nvSpPr>
          <p:cNvPr id="22" name="Google Shape;22;p1"/>
          <p:cNvSpPr/>
          <p:nvPr/>
        </p:nvSpPr>
        <p:spPr>
          <a:xfrm>
            <a:off x="8167320" y="2588400"/>
            <a:ext cx="20349000" cy="2192760"/>
          </a:xfrm>
          <a:prstGeom prst="rect">
            <a:avLst/>
          </a:prstGeom>
          <a:noFill/>
          <a:ln>
            <a:noFill/>
          </a:ln>
        </p:spPr>
        <p:txBody>
          <a:bodyPr anchorCtr="0" anchor="t" bIns="45000" lIns="90000" spcFirstLastPara="1" rIns="90000" wrap="square" tIns="45000">
            <a:spAutoFit/>
          </a:bodyPr>
          <a:lstStyle/>
          <a:p>
            <a:pPr indent="0" lvl="0" marL="0" marR="0" rtl="0" algn="ctr">
              <a:lnSpc>
                <a:spcPct val="100000"/>
              </a:lnSpc>
              <a:spcBef>
                <a:spcPts val="0"/>
              </a:spcBef>
              <a:spcAft>
                <a:spcPts val="0"/>
              </a:spcAft>
              <a:buNone/>
            </a:pPr>
            <a:r>
              <a:rPr b="1" i="0" lang="en-US" sz="4800" u="none" cap="none" strike="noStrike">
                <a:solidFill>
                  <a:schemeClr val="dk1"/>
                </a:solidFill>
                <a:latin typeface="Times New Roman"/>
                <a:ea typeface="Times New Roman"/>
                <a:cs typeface="Times New Roman"/>
                <a:sym typeface="Times New Roman"/>
              </a:rPr>
              <a:t>Stenneth Swaby</a:t>
            </a:r>
            <a:endParaRPr b="0" i="0" sz="4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en-US" sz="4000" u="none" cap="none" strike="noStrike">
                <a:solidFill>
                  <a:schemeClr val="dk1"/>
                </a:solidFill>
                <a:latin typeface="Times New Roman"/>
                <a:ea typeface="Times New Roman"/>
                <a:cs typeface="Times New Roman"/>
                <a:sym typeface="Times New Roman"/>
              </a:rPr>
              <a:t>Department of Computer Science, The College of New Jersey</a:t>
            </a:r>
            <a:endParaRPr b="0" i="0" sz="4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en-US" sz="4000" u="none" cap="none" strike="noStrike">
                <a:solidFill>
                  <a:schemeClr val="dk1"/>
                </a:solidFill>
                <a:latin typeface="Times New Roman"/>
                <a:ea typeface="Times New Roman"/>
                <a:cs typeface="Times New Roman"/>
                <a:sym typeface="Times New Roman"/>
              </a:rPr>
              <a:t>Mentor: Dr. Sejong Yoon</a:t>
            </a:r>
            <a:endParaRPr b="0" i="0" sz="4000" u="none" cap="none" strike="noStrike">
              <a:solidFill>
                <a:srgbClr val="000000"/>
              </a:solidFill>
              <a:latin typeface="Arial"/>
              <a:ea typeface="Arial"/>
              <a:cs typeface="Arial"/>
              <a:sym typeface="Arial"/>
            </a:endParaRPr>
          </a:p>
        </p:txBody>
      </p:sp>
      <p:sp>
        <p:nvSpPr>
          <p:cNvPr id="23" name="Google Shape;23;p1"/>
          <p:cNvSpPr/>
          <p:nvPr/>
        </p:nvSpPr>
        <p:spPr>
          <a:xfrm>
            <a:off x="24409800" y="5552640"/>
            <a:ext cx="11513520" cy="11445480"/>
          </a:xfrm>
          <a:prstGeom prst="rect">
            <a:avLst/>
          </a:prstGeom>
          <a:noFill/>
          <a:ln cap="flat" cmpd="sng" w="203200">
            <a:solidFill>
              <a:srgbClr val="595959"/>
            </a:solidFill>
            <a:prstDash val="solid"/>
            <a:round/>
            <a:headEnd len="sm" w="sm" type="none"/>
            <a:tailEnd len="sm" w="sm" type="none"/>
          </a:ln>
        </p:spPr>
        <p:txBody>
          <a:bodyPr anchorCtr="0" anchor="t" bIns="182875" lIns="90000" spcFirstLastPara="1" rIns="90000" wrap="square" tIns="45000">
            <a:spAutoFit/>
          </a:bodyPr>
          <a:lstStyle/>
          <a:p>
            <a:pPr indent="0" lvl="0" marL="0" marR="0" rtl="0" algn="ctr">
              <a:lnSpc>
                <a:spcPct val="150000"/>
              </a:lnSpc>
              <a:spcBef>
                <a:spcPts val="0"/>
              </a:spcBef>
              <a:spcAft>
                <a:spcPts val="0"/>
              </a:spcAft>
              <a:buNone/>
            </a:pPr>
            <a:r>
              <a:rPr b="1" i="0" lang="en-US" sz="4400" u="none" cap="none" strike="noStrike">
                <a:solidFill>
                  <a:schemeClr val="dk1"/>
                </a:solidFill>
              </a:rPr>
              <a:t>RESULTS</a:t>
            </a:r>
            <a:endParaRPr i="0" sz="4400" u="none" cap="none" strike="noStrike">
              <a:solidFill>
                <a:srgbClr val="000000"/>
              </a:solidFill>
            </a:endParaRPr>
          </a:p>
          <a:p>
            <a:pPr indent="0" lvl="0" marL="0" marR="0" rtl="0" algn="l">
              <a:lnSpc>
                <a:spcPct val="100000"/>
              </a:lnSpc>
              <a:spcBef>
                <a:spcPts val="0"/>
              </a:spcBef>
              <a:spcAft>
                <a:spcPts val="0"/>
              </a:spcAft>
              <a:buNone/>
            </a:pPr>
            <a:r>
              <a:t/>
            </a:r>
            <a:endParaRPr sz="1900">
              <a:solidFill>
                <a:schemeClr val="dk1"/>
              </a:solidFill>
            </a:endParaRPr>
          </a:p>
          <a:p>
            <a:pPr indent="0" lvl="0" marL="0" marR="0" rtl="0" algn="l">
              <a:lnSpc>
                <a:spcPct val="100000"/>
              </a:lnSpc>
              <a:spcBef>
                <a:spcPts val="0"/>
              </a:spcBef>
              <a:spcAft>
                <a:spcPts val="0"/>
              </a:spcAft>
              <a:buNone/>
            </a:pPr>
            <a:r>
              <a:t/>
            </a:r>
            <a:endParaRPr sz="1900">
              <a:solidFill>
                <a:schemeClr val="dk1"/>
              </a:solidFill>
            </a:endParaRPr>
          </a:p>
          <a:p>
            <a:pPr indent="0" lvl="0" marL="0" marR="0" rtl="0" algn="l">
              <a:lnSpc>
                <a:spcPct val="100000"/>
              </a:lnSpc>
              <a:spcBef>
                <a:spcPts val="0"/>
              </a:spcBef>
              <a:spcAft>
                <a:spcPts val="0"/>
              </a:spcAft>
              <a:buNone/>
            </a:pPr>
            <a:r>
              <a:t/>
            </a:r>
            <a:endParaRPr sz="1900">
              <a:solidFill>
                <a:schemeClr val="dk1"/>
              </a:solidFill>
            </a:endParaRPr>
          </a:p>
          <a:p>
            <a:pPr indent="0" lvl="0" marL="0" marR="0" rtl="0" algn="l">
              <a:lnSpc>
                <a:spcPct val="100000"/>
              </a:lnSpc>
              <a:spcBef>
                <a:spcPts val="0"/>
              </a:spcBef>
              <a:spcAft>
                <a:spcPts val="0"/>
              </a:spcAft>
              <a:buNone/>
            </a:pPr>
            <a:r>
              <a:t/>
            </a:r>
            <a:endParaRPr sz="1900">
              <a:solidFill>
                <a:schemeClr val="dk1"/>
              </a:solidFill>
            </a:endParaRPr>
          </a:p>
          <a:p>
            <a:pPr indent="0" lvl="0" marL="0" marR="0" rtl="0" algn="l">
              <a:lnSpc>
                <a:spcPct val="100000"/>
              </a:lnSpc>
              <a:spcBef>
                <a:spcPts val="0"/>
              </a:spcBef>
              <a:spcAft>
                <a:spcPts val="0"/>
              </a:spcAft>
              <a:buNone/>
            </a:pPr>
            <a:r>
              <a:t/>
            </a:r>
            <a:endParaRPr sz="1900">
              <a:solidFill>
                <a:schemeClr val="dk1"/>
              </a:solidFill>
            </a:endParaRPr>
          </a:p>
          <a:p>
            <a:pPr indent="0" lvl="0" marL="914400" marR="0" rtl="0" algn="l">
              <a:lnSpc>
                <a:spcPct val="100000"/>
              </a:lnSpc>
              <a:spcBef>
                <a:spcPts val="0"/>
              </a:spcBef>
              <a:spcAft>
                <a:spcPts val="0"/>
              </a:spcAft>
              <a:buNone/>
            </a:pPr>
            <a:r>
              <a:t/>
            </a:r>
            <a:endParaRPr sz="1900">
              <a:solidFill>
                <a:schemeClr val="dk1"/>
              </a:solidFill>
            </a:endParaRPr>
          </a:p>
          <a:p>
            <a:pPr indent="0" lvl="0" marL="0" marR="0" rtl="0" algn="l">
              <a:lnSpc>
                <a:spcPct val="100000"/>
              </a:lnSpc>
              <a:spcBef>
                <a:spcPts val="0"/>
              </a:spcBef>
              <a:spcAft>
                <a:spcPts val="0"/>
              </a:spcAft>
              <a:buNone/>
            </a:pPr>
            <a:r>
              <a:t/>
            </a:r>
            <a:endParaRPr sz="1900">
              <a:solidFill>
                <a:schemeClr val="dk1"/>
              </a:solidFill>
            </a:endParaRPr>
          </a:p>
          <a:p>
            <a:pPr indent="0" lvl="0" marL="0" marR="0" rtl="0" algn="l">
              <a:lnSpc>
                <a:spcPct val="100000"/>
              </a:lnSpc>
              <a:spcBef>
                <a:spcPts val="0"/>
              </a:spcBef>
              <a:spcAft>
                <a:spcPts val="0"/>
              </a:spcAft>
              <a:buNone/>
            </a:pPr>
            <a:r>
              <a:t/>
            </a:r>
            <a:endParaRPr sz="1900">
              <a:solidFill>
                <a:schemeClr val="dk1"/>
              </a:solidFill>
            </a:endParaRPr>
          </a:p>
          <a:p>
            <a:pPr indent="0" lvl="0" marL="0" marR="0" rtl="0" algn="l">
              <a:lnSpc>
                <a:spcPct val="100000"/>
              </a:lnSpc>
              <a:spcBef>
                <a:spcPts val="0"/>
              </a:spcBef>
              <a:spcAft>
                <a:spcPts val="0"/>
              </a:spcAft>
              <a:buNone/>
            </a:pPr>
            <a:r>
              <a:t/>
            </a:r>
            <a:endParaRPr sz="1900">
              <a:solidFill>
                <a:schemeClr val="dk1"/>
              </a:solidFill>
            </a:endParaRPr>
          </a:p>
          <a:p>
            <a:pPr indent="0" lvl="0" marL="0" marR="0" rtl="0" algn="l">
              <a:lnSpc>
                <a:spcPct val="100000"/>
              </a:lnSpc>
              <a:spcBef>
                <a:spcPts val="0"/>
              </a:spcBef>
              <a:spcAft>
                <a:spcPts val="0"/>
              </a:spcAft>
              <a:buNone/>
            </a:pPr>
            <a:r>
              <a:t/>
            </a:r>
            <a:endParaRPr sz="1900">
              <a:solidFill>
                <a:schemeClr val="dk1"/>
              </a:solidFill>
            </a:endParaRPr>
          </a:p>
          <a:p>
            <a:pPr indent="0" lvl="0" marL="0" marR="0" rtl="0" algn="l">
              <a:lnSpc>
                <a:spcPct val="100000"/>
              </a:lnSpc>
              <a:spcBef>
                <a:spcPts val="0"/>
              </a:spcBef>
              <a:spcAft>
                <a:spcPts val="0"/>
              </a:spcAft>
              <a:buNone/>
            </a:pPr>
            <a:r>
              <a:t/>
            </a:r>
            <a:endParaRPr sz="1900">
              <a:solidFill>
                <a:schemeClr val="dk1"/>
              </a:solidFill>
            </a:endParaRPr>
          </a:p>
          <a:p>
            <a:pPr indent="0" lvl="0" marL="0" marR="0" rtl="0" algn="ctr">
              <a:lnSpc>
                <a:spcPct val="100000"/>
              </a:lnSpc>
              <a:spcBef>
                <a:spcPts val="0"/>
              </a:spcBef>
              <a:spcAft>
                <a:spcPts val="0"/>
              </a:spcAft>
              <a:buNone/>
            </a:pPr>
            <a:r>
              <a:rPr lang="en-US" sz="1600">
                <a:solidFill>
                  <a:schemeClr val="dk1"/>
                </a:solidFill>
              </a:rPr>
              <a:t>Table Comparing Our established ground truths and the map dimensions from Cartographer and SLAM Toolbox.</a:t>
            </a:r>
            <a:endParaRPr sz="1600">
              <a:solidFill>
                <a:schemeClr val="dk1"/>
              </a:solidFill>
            </a:endParaRPr>
          </a:p>
          <a:p>
            <a:pPr indent="0" lvl="0" marL="0" marR="0" rtl="0" algn="l">
              <a:lnSpc>
                <a:spcPct val="100000"/>
              </a:lnSpc>
              <a:spcBef>
                <a:spcPts val="0"/>
              </a:spcBef>
              <a:spcAft>
                <a:spcPts val="0"/>
              </a:spcAft>
              <a:buNone/>
            </a:pPr>
            <a:r>
              <a:t/>
            </a:r>
            <a:endParaRPr sz="1900">
              <a:solidFill>
                <a:schemeClr val="dk1"/>
              </a:solidFill>
            </a:endParaRPr>
          </a:p>
          <a:p>
            <a:pPr indent="-489130" lvl="1" marL="1028880" rtl="0" algn="l">
              <a:spcBef>
                <a:spcPts val="0"/>
              </a:spcBef>
              <a:spcAft>
                <a:spcPts val="0"/>
              </a:spcAft>
              <a:buClr>
                <a:schemeClr val="dk1"/>
              </a:buClr>
              <a:buSzPts val="1900"/>
              <a:buChar char="❑"/>
            </a:pPr>
            <a:r>
              <a:rPr lang="en-US" sz="1900">
                <a:solidFill>
                  <a:schemeClr val="dk1"/>
                </a:solidFill>
              </a:rPr>
              <a:t>Calculating the error in mapping area</a:t>
            </a:r>
            <a:endParaRPr sz="1900">
              <a:solidFill>
                <a:schemeClr val="dk1"/>
              </a:solidFill>
            </a:endParaRPr>
          </a:p>
          <a:p>
            <a:pPr indent="-349250" lvl="2" marL="1371600" rtl="0" algn="l">
              <a:spcBef>
                <a:spcPts val="0"/>
              </a:spcBef>
              <a:spcAft>
                <a:spcPts val="0"/>
              </a:spcAft>
              <a:buClr>
                <a:schemeClr val="dk1"/>
              </a:buClr>
              <a:buSzPts val="1900"/>
              <a:buChar char="■"/>
            </a:pPr>
            <a:r>
              <a:rPr lang="en-US" sz="1900">
                <a:solidFill>
                  <a:schemeClr val="dk1"/>
                </a:solidFill>
              </a:rPr>
              <a:t>Absolute Error = ∣Mapped−Ground Truth∣</a:t>
            </a:r>
            <a:endParaRPr sz="1900">
              <a:solidFill>
                <a:schemeClr val="dk1"/>
              </a:solidFill>
            </a:endParaRPr>
          </a:p>
          <a:p>
            <a:pPr indent="-349250" lvl="2" marL="1371600" rtl="0" algn="l">
              <a:spcBef>
                <a:spcPts val="0"/>
              </a:spcBef>
              <a:spcAft>
                <a:spcPts val="0"/>
              </a:spcAft>
              <a:buClr>
                <a:schemeClr val="dk1"/>
              </a:buClr>
              <a:buSzPts val="1900"/>
              <a:buChar char="■"/>
            </a:pPr>
            <a:r>
              <a:rPr lang="en-US" sz="1900">
                <a:solidFill>
                  <a:schemeClr val="dk1"/>
                </a:solidFill>
              </a:rPr>
              <a:t>Percent Error = (Error / Ground Truth) ×100</a:t>
            </a:r>
            <a:endParaRPr sz="1900">
              <a:solidFill>
                <a:schemeClr val="dk1"/>
              </a:solidFill>
            </a:endParaRPr>
          </a:p>
          <a:p>
            <a:pPr indent="0" lvl="0" marL="1371600" rtl="0" algn="l">
              <a:spcBef>
                <a:spcPts val="0"/>
              </a:spcBef>
              <a:spcAft>
                <a:spcPts val="0"/>
              </a:spcAft>
              <a:buNone/>
            </a:pPr>
            <a:r>
              <a:t/>
            </a:r>
            <a:endParaRPr sz="1900">
              <a:solidFill>
                <a:schemeClr val="dk1"/>
              </a:solidFill>
            </a:endParaRPr>
          </a:p>
          <a:p>
            <a:pPr indent="-349250" lvl="1" marL="914400" marR="0" rtl="0" algn="l">
              <a:lnSpc>
                <a:spcPct val="100000"/>
              </a:lnSpc>
              <a:spcBef>
                <a:spcPts val="0"/>
              </a:spcBef>
              <a:spcAft>
                <a:spcPts val="0"/>
              </a:spcAft>
              <a:buClr>
                <a:schemeClr val="dk1"/>
              </a:buClr>
              <a:buSzPts val="1900"/>
              <a:buChar char="❑"/>
            </a:pPr>
            <a:r>
              <a:rPr lang="en-US" sz="1900">
                <a:solidFill>
                  <a:schemeClr val="dk1"/>
                </a:solidFill>
              </a:rPr>
              <a:t>Slam Toolbox </a:t>
            </a:r>
            <a:endParaRPr sz="1900">
              <a:solidFill>
                <a:schemeClr val="dk1"/>
              </a:solidFill>
            </a:endParaRPr>
          </a:p>
          <a:p>
            <a:pPr indent="-349250" lvl="2" marL="1371600" marR="0" rtl="0" algn="l">
              <a:lnSpc>
                <a:spcPct val="100000"/>
              </a:lnSpc>
              <a:spcBef>
                <a:spcPts val="0"/>
              </a:spcBef>
              <a:spcAft>
                <a:spcPts val="0"/>
              </a:spcAft>
              <a:buClr>
                <a:schemeClr val="dk1"/>
              </a:buClr>
              <a:buSzPts val="1900"/>
              <a:buChar char="■"/>
            </a:pPr>
            <a:r>
              <a:rPr lang="en-US" sz="1900">
                <a:solidFill>
                  <a:schemeClr val="dk1"/>
                </a:solidFill>
              </a:rPr>
              <a:t>The maze area error was 0.47%, showing high accuracy in large-scale mapping.</a:t>
            </a:r>
            <a:endParaRPr sz="1900">
              <a:solidFill>
                <a:schemeClr val="dk1"/>
              </a:solidFill>
            </a:endParaRPr>
          </a:p>
          <a:p>
            <a:pPr indent="0" lvl="0" marL="1371600" marR="0" rtl="0" algn="l">
              <a:lnSpc>
                <a:spcPct val="100000"/>
              </a:lnSpc>
              <a:spcBef>
                <a:spcPts val="0"/>
              </a:spcBef>
              <a:spcAft>
                <a:spcPts val="0"/>
              </a:spcAft>
              <a:buNone/>
            </a:pPr>
            <a:r>
              <a:t/>
            </a:r>
            <a:endParaRPr sz="1900">
              <a:solidFill>
                <a:schemeClr val="dk1"/>
              </a:solidFill>
            </a:endParaRPr>
          </a:p>
          <a:p>
            <a:pPr indent="-349250" lvl="1" marL="914400" rtl="0" algn="l">
              <a:spcBef>
                <a:spcPts val="0"/>
              </a:spcBef>
              <a:spcAft>
                <a:spcPts val="0"/>
              </a:spcAft>
              <a:buClr>
                <a:schemeClr val="dk1"/>
              </a:buClr>
              <a:buSzPts val="1900"/>
              <a:buChar char="❑"/>
            </a:pPr>
            <a:r>
              <a:rPr lang="en-US" sz="1900">
                <a:solidFill>
                  <a:schemeClr val="dk1"/>
                </a:solidFill>
              </a:rPr>
              <a:t>Cartographer</a:t>
            </a:r>
            <a:endParaRPr sz="1900">
              <a:solidFill>
                <a:schemeClr val="dk1"/>
              </a:solidFill>
            </a:endParaRPr>
          </a:p>
          <a:p>
            <a:pPr indent="-349250" lvl="2" marL="1371600" rtl="0" algn="l">
              <a:spcBef>
                <a:spcPts val="0"/>
              </a:spcBef>
              <a:spcAft>
                <a:spcPts val="0"/>
              </a:spcAft>
              <a:buClr>
                <a:schemeClr val="dk1"/>
              </a:buClr>
              <a:buSzPts val="1900"/>
              <a:buChar char="■"/>
            </a:pPr>
            <a:r>
              <a:rPr lang="en-US" sz="1900">
                <a:solidFill>
                  <a:schemeClr val="dk1"/>
                </a:solidFill>
              </a:rPr>
              <a:t> Boxes 1 and 2 errors were moderate (24% and 20%, respectively), suggesting shape distortion around smaller features.</a:t>
            </a:r>
            <a:endParaRPr sz="1900">
              <a:solidFill>
                <a:schemeClr val="dk1"/>
              </a:solidFill>
            </a:endParaRPr>
          </a:p>
          <a:p>
            <a:pPr indent="-349250" lvl="2" marL="1371600" rtl="0" algn="l">
              <a:spcBef>
                <a:spcPts val="0"/>
              </a:spcBef>
              <a:spcAft>
                <a:spcPts val="0"/>
              </a:spcAft>
              <a:buClr>
                <a:schemeClr val="dk1"/>
              </a:buClr>
              <a:buSzPts val="1900"/>
              <a:buChar char="■"/>
            </a:pPr>
            <a:r>
              <a:rPr lang="en-US" sz="1900">
                <a:solidFill>
                  <a:schemeClr val="dk1"/>
                </a:solidFill>
              </a:rPr>
              <a:t>Boxes 3 and 4 had higher deviations (35% and 50%), indicating rounding of edges and less geometric accuracy for compact structures.</a:t>
            </a:r>
            <a:endParaRPr sz="1900">
              <a:solidFill>
                <a:schemeClr val="dk1"/>
              </a:solidFill>
            </a:endParaRPr>
          </a:p>
          <a:p>
            <a:pPr indent="0" lvl="0" marL="1371600" rtl="0" algn="l">
              <a:spcBef>
                <a:spcPts val="0"/>
              </a:spcBef>
              <a:spcAft>
                <a:spcPts val="0"/>
              </a:spcAft>
              <a:buNone/>
            </a:pPr>
            <a:r>
              <a:t/>
            </a:r>
            <a:endParaRPr sz="1900">
              <a:solidFill>
                <a:schemeClr val="dk1"/>
              </a:solidFill>
            </a:endParaRPr>
          </a:p>
          <a:p>
            <a:pPr indent="-349250" lvl="1" marL="914400" rtl="0" algn="l">
              <a:spcBef>
                <a:spcPts val="0"/>
              </a:spcBef>
              <a:spcAft>
                <a:spcPts val="0"/>
              </a:spcAft>
              <a:buClr>
                <a:schemeClr val="dk1"/>
              </a:buClr>
              <a:buSzPts val="1900"/>
              <a:buChar char="❑"/>
            </a:pPr>
            <a:r>
              <a:rPr lang="en-US" sz="1900">
                <a:solidFill>
                  <a:schemeClr val="dk1"/>
                </a:solidFill>
              </a:rPr>
              <a:t>SLAM Toolbox achieved a more accurate overall representation of the maze environment, with an average percent error of approximately 9%, compared to 27% for Cartographer. This performance difference reflects SLAM Toolbox’s superior geometric precision, particularly during LiDAR scans around Boxes 2 and 4, where object boundaries and corner geometries were more sharply preserved. In contrast, Cartographer generated a visually continuous and cohesive map with smoother transitions and fewer discontinuities, but it exhibited a tendency to overestimate smaller structural regions, as indicated by the higher percentage errors in Boxes 3 and 4.These results suggest that while Cartographer prioritizes global smoothness and visual uniformity, SLAM Toolbox demonstrates greater fidelity in local structural reconstruction and spatial accuracy.</a:t>
            </a:r>
            <a:endParaRPr sz="1900">
              <a:solidFill>
                <a:schemeClr val="dk1"/>
              </a:solidFill>
            </a:endParaRPr>
          </a:p>
          <a:p>
            <a:pPr indent="0" lvl="0" marL="0" marR="0" rtl="0" algn="l">
              <a:lnSpc>
                <a:spcPct val="100000"/>
              </a:lnSpc>
              <a:spcBef>
                <a:spcPts val="0"/>
              </a:spcBef>
              <a:spcAft>
                <a:spcPts val="0"/>
              </a:spcAft>
              <a:buNone/>
            </a:pPr>
            <a:r>
              <a:t/>
            </a:r>
            <a:endParaRPr sz="1900">
              <a:solidFill>
                <a:schemeClr val="dk1"/>
              </a:solidFill>
            </a:endParaRPr>
          </a:p>
          <a:p>
            <a:pPr indent="0" lvl="0" marL="0" marR="0" rtl="0" algn="l">
              <a:lnSpc>
                <a:spcPct val="100000"/>
              </a:lnSpc>
              <a:spcBef>
                <a:spcPts val="0"/>
              </a:spcBef>
              <a:spcAft>
                <a:spcPts val="0"/>
              </a:spcAft>
              <a:buNone/>
            </a:pPr>
            <a:r>
              <a:t/>
            </a:r>
            <a:endParaRPr i="0" sz="3200" u="none" cap="none" strike="noStrike">
              <a:solidFill>
                <a:srgbClr val="000000"/>
              </a:solidFill>
            </a:endParaRPr>
          </a:p>
          <a:p>
            <a:pPr indent="0" lvl="0" marL="0" marR="0" rtl="0" algn="l">
              <a:lnSpc>
                <a:spcPct val="100000"/>
              </a:lnSpc>
              <a:spcBef>
                <a:spcPts val="0"/>
              </a:spcBef>
              <a:spcAft>
                <a:spcPts val="0"/>
              </a:spcAft>
              <a:buNone/>
            </a:pPr>
            <a:r>
              <a:t/>
            </a:r>
            <a:endParaRPr i="0" sz="3800" u="none" cap="none" strike="noStrike">
              <a:solidFill>
                <a:srgbClr val="000000"/>
              </a:solidFill>
            </a:endParaRPr>
          </a:p>
          <a:p>
            <a:pPr indent="0" lvl="0" marL="0" marR="0" rtl="0" algn="l">
              <a:lnSpc>
                <a:spcPct val="100000"/>
              </a:lnSpc>
              <a:spcBef>
                <a:spcPts val="0"/>
              </a:spcBef>
              <a:spcAft>
                <a:spcPts val="0"/>
              </a:spcAft>
              <a:buNone/>
            </a:pPr>
            <a:r>
              <a:t/>
            </a:r>
            <a:endParaRPr i="0" sz="3800" u="none" cap="none" strike="noStrike">
              <a:solidFill>
                <a:srgbClr val="000000"/>
              </a:solidFill>
            </a:endParaRPr>
          </a:p>
          <a:p>
            <a:pPr indent="0" lvl="0" marL="0" marR="0" rtl="0" algn="l">
              <a:lnSpc>
                <a:spcPct val="100000"/>
              </a:lnSpc>
              <a:spcBef>
                <a:spcPts val="0"/>
              </a:spcBef>
              <a:spcAft>
                <a:spcPts val="0"/>
              </a:spcAft>
              <a:buNone/>
            </a:pPr>
            <a:r>
              <a:t/>
            </a:r>
            <a:endParaRPr i="0" sz="3800" u="none" cap="none" strike="noStrike">
              <a:solidFill>
                <a:srgbClr val="000000"/>
              </a:solidFill>
            </a:endParaRPr>
          </a:p>
          <a:p>
            <a:pPr indent="0" lvl="0" marL="0" marR="0" rtl="0" algn="l">
              <a:lnSpc>
                <a:spcPct val="100000"/>
              </a:lnSpc>
              <a:spcBef>
                <a:spcPts val="0"/>
              </a:spcBef>
              <a:spcAft>
                <a:spcPts val="0"/>
              </a:spcAft>
              <a:buNone/>
            </a:pPr>
            <a:r>
              <a:t/>
            </a:r>
            <a:endParaRPr i="0" sz="3800" u="none" cap="none" strike="noStrike">
              <a:solidFill>
                <a:srgbClr val="000000"/>
              </a:solidFill>
            </a:endParaRPr>
          </a:p>
          <a:p>
            <a:pPr indent="0" lvl="0" marL="457200" marR="0" rtl="0" algn="l">
              <a:lnSpc>
                <a:spcPct val="100000"/>
              </a:lnSpc>
              <a:spcBef>
                <a:spcPts val="0"/>
              </a:spcBef>
              <a:spcAft>
                <a:spcPts val="0"/>
              </a:spcAft>
              <a:buNone/>
            </a:pPr>
            <a:r>
              <a:t/>
            </a:r>
            <a:endParaRPr i="0" sz="3800" u="none" cap="none" strike="noStrike">
              <a:solidFill>
                <a:srgbClr val="000000"/>
              </a:solidFill>
            </a:endParaRPr>
          </a:p>
          <a:p>
            <a:pPr indent="0" lvl="0" marL="0" marR="0" rtl="0" algn="l">
              <a:lnSpc>
                <a:spcPct val="100000"/>
              </a:lnSpc>
              <a:spcBef>
                <a:spcPts val="0"/>
              </a:spcBef>
              <a:spcAft>
                <a:spcPts val="0"/>
              </a:spcAft>
              <a:buNone/>
            </a:pPr>
            <a:r>
              <a:t/>
            </a:r>
            <a:endParaRPr i="0" sz="3800" u="none" cap="none" strike="noStrike">
              <a:solidFill>
                <a:srgbClr val="000000"/>
              </a:solidFill>
            </a:endParaRPr>
          </a:p>
          <a:p>
            <a:pPr indent="0" lvl="0" marL="0" marR="0" rtl="0" algn="l">
              <a:lnSpc>
                <a:spcPct val="100000"/>
              </a:lnSpc>
              <a:spcBef>
                <a:spcPts val="0"/>
              </a:spcBef>
              <a:spcAft>
                <a:spcPts val="0"/>
              </a:spcAft>
              <a:buNone/>
            </a:pPr>
            <a:r>
              <a:t/>
            </a:r>
            <a:endParaRPr i="0" sz="3800" u="none" cap="none" strike="noStrike">
              <a:solidFill>
                <a:srgbClr val="000000"/>
              </a:solidFill>
            </a:endParaRPr>
          </a:p>
          <a:p>
            <a:pPr indent="0" lvl="0" marL="0" marR="0" rtl="0" algn="l">
              <a:lnSpc>
                <a:spcPct val="100000"/>
              </a:lnSpc>
              <a:spcBef>
                <a:spcPts val="0"/>
              </a:spcBef>
              <a:spcAft>
                <a:spcPts val="0"/>
              </a:spcAft>
              <a:buNone/>
            </a:pPr>
            <a:r>
              <a:t/>
            </a:r>
            <a:endParaRPr i="0" sz="3800" u="none" cap="none" strike="noStrike">
              <a:solidFill>
                <a:srgbClr val="000000"/>
              </a:solidFill>
            </a:endParaRPr>
          </a:p>
          <a:p>
            <a:pPr indent="0" lvl="0" marL="0" marR="0" rtl="0" algn="l">
              <a:lnSpc>
                <a:spcPct val="100000"/>
              </a:lnSpc>
              <a:spcBef>
                <a:spcPts val="0"/>
              </a:spcBef>
              <a:spcAft>
                <a:spcPts val="0"/>
              </a:spcAft>
              <a:buNone/>
            </a:pPr>
            <a:r>
              <a:t/>
            </a:r>
            <a:endParaRPr i="0" sz="3800" u="none" cap="none" strike="noStrike">
              <a:solidFill>
                <a:srgbClr val="000000"/>
              </a:solidFill>
            </a:endParaRPr>
          </a:p>
          <a:p>
            <a:pPr indent="0" lvl="0" marL="0" marR="0" rtl="0" algn="l">
              <a:lnSpc>
                <a:spcPct val="100000"/>
              </a:lnSpc>
              <a:spcBef>
                <a:spcPts val="0"/>
              </a:spcBef>
              <a:spcAft>
                <a:spcPts val="0"/>
              </a:spcAft>
              <a:buNone/>
            </a:pPr>
            <a:r>
              <a:t/>
            </a:r>
            <a:endParaRPr i="0" sz="3800" u="none" cap="none" strike="noStrike">
              <a:solidFill>
                <a:srgbClr val="000000"/>
              </a:solidFill>
            </a:endParaRPr>
          </a:p>
          <a:p>
            <a:pPr indent="0" lvl="0" marL="0" marR="0" rtl="0" algn="l">
              <a:lnSpc>
                <a:spcPct val="100000"/>
              </a:lnSpc>
              <a:spcBef>
                <a:spcPts val="0"/>
              </a:spcBef>
              <a:spcAft>
                <a:spcPts val="0"/>
              </a:spcAft>
              <a:buNone/>
            </a:pPr>
            <a:r>
              <a:t/>
            </a:r>
            <a:endParaRPr i="0" sz="3800" u="none" cap="none" strike="noStrike">
              <a:solidFill>
                <a:srgbClr val="000000"/>
              </a:solidFill>
            </a:endParaRPr>
          </a:p>
          <a:p>
            <a:pPr indent="0" lvl="0" marL="0" marR="0" rtl="0" algn="l">
              <a:lnSpc>
                <a:spcPct val="100000"/>
              </a:lnSpc>
              <a:spcBef>
                <a:spcPts val="0"/>
              </a:spcBef>
              <a:spcAft>
                <a:spcPts val="0"/>
              </a:spcAft>
              <a:buNone/>
            </a:pPr>
            <a:r>
              <a:t/>
            </a:r>
            <a:endParaRPr i="0" sz="3800" u="none" cap="none" strike="noStrike">
              <a:solidFill>
                <a:srgbClr val="000000"/>
              </a:solidFill>
            </a:endParaRPr>
          </a:p>
          <a:p>
            <a:pPr indent="0" lvl="0" marL="0" marR="0" rtl="0" algn="l">
              <a:lnSpc>
                <a:spcPct val="100000"/>
              </a:lnSpc>
              <a:spcBef>
                <a:spcPts val="0"/>
              </a:spcBef>
              <a:spcAft>
                <a:spcPts val="0"/>
              </a:spcAft>
              <a:buNone/>
            </a:pPr>
            <a:r>
              <a:t/>
            </a:r>
            <a:endParaRPr i="0" sz="2000" u="none" cap="none" strike="noStrike">
              <a:solidFill>
                <a:srgbClr val="000000"/>
              </a:solidFill>
            </a:endParaRPr>
          </a:p>
          <a:p>
            <a:pPr indent="0" lvl="0" marL="0" marR="0" rtl="0" algn="l">
              <a:lnSpc>
                <a:spcPct val="100000"/>
              </a:lnSpc>
              <a:spcBef>
                <a:spcPts val="0"/>
              </a:spcBef>
              <a:spcAft>
                <a:spcPts val="0"/>
              </a:spcAft>
              <a:buNone/>
            </a:pPr>
            <a:r>
              <a:t/>
            </a:r>
            <a:endParaRPr i="0" sz="1000" u="none" cap="none" strike="noStrike">
              <a:solidFill>
                <a:srgbClr val="000000"/>
              </a:solidFill>
            </a:endParaRPr>
          </a:p>
          <a:p>
            <a:pPr indent="0" lvl="0" marL="0" marR="0" rtl="0" algn="l">
              <a:lnSpc>
                <a:spcPct val="100000"/>
              </a:lnSpc>
              <a:spcBef>
                <a:spcPts val="0"/>
              </a:spcBef>
              <a:spcAft>
                <a:spcPts val="0"/>
              </a:spcAft>
              <a:buNone/>
            </a:pPr>
            <a:r>
              <a:t/>
            </a:r>
            <a:endParaRPr i="0" sz="800" u="none" cap="none" strike="noStrike">
              <a:solidFill>
                <a:srgbClr val="000000"/>
              </a:solidFill>
            </a:endParaRPr>
          </a:p>
          <a:p>
            <a:pPr indent="0" lvl="0" marL="0" marR="0" rtl="0" algn="l">
              <a:lnSpc>
                <a:spcPct val="100000"/>
              </a:lnSpc>
              <a:spcBef>
                <a:spcPts val="0"/>
              </a:spcBef>
              <a:spcAft>
                <a:spcPts val="0"/>
              </a:spcAft>
              <a:buNone/>
            </a:pPr>
            <a:r>
              <a:t/>
            </a:r>
            <a:endParaRPr i="0" sz="800" u="none" cap="none" strike="noStrike">
              <a:solidFill>
                <a:srgbClr val="000000"/>
              </a:solidFill>
            </a:endParaRPr>
          </a:p>
          <a:p>
            <a:pPr indent="0" lvl="0" marL="0" marR="0" rtl="0" algn="l">
              <a:lnSpc>
                <a:spcPct val="100000"/>
              </a:lnSpc>
              <a:spcBef>
                <a:spcPts val="0"/>
              </a:spcBef>
              <a:spcAft>
                <a:spcPts val="0"/>
              </a:spcAft>
              <a:buNone/>
            </a:pPr>
            <a:r>
              <a:t/>
            </a:r>
            <a:endParaRPr i="0" sz="800" u="none" cap="none" strike="noStrike">
              <a:solidFill>
                <a:srgbClr val="000000"/>
              </a:solidFill>
            </a:endParaRPr>
          </a:p>
        </p:txBody>
      </p:sp>
      <p:sp>
        <p:nvSpPr>
          <p:cNvPr id="24" name="Google Shape;24;p1"/>
          <p:cNvSpPr/>
          <p:nvPr/>
        </p:nvSpPr>
        <p:spPr>
          <a:xfrm>
            <a:off x="12745080" y="5552640"/>
            <a:ext cx="11310840" cy="22787640"/>
          </a:xfrm>
          <a:prstGeom prst="rect">
            <a:avLst/>
          </a:prstGeom>
          <a:noFill/>
          <a:ln cap="flat" cmpd="sng" w="203200">
            <a:solidFill>
              <a:srgbClr val="595959"/>
            </a:solidFill>
            <a:prstDash val="solid"/>
            <a:round/>
            <a:headEnd len="sm" w="sm" type="none"/>
            <a:tailEnd len="sm" w="sm" type="none"/>
          </a:ln>
        </p:spPr>
        <p:txBody>
          <a:bodyPr anchorCtr="0" anchor="t" bIns="274300" lIns="90000" spcFirstLastPara="1" rIns="274300" wrap="square" tIns="45000">
            <a:spAutoFit/>
          </a:bodyPr>
          <a:lstStyle/>
          <a:p>
            <a:pPr indent="0" lvl="0" marL="0" marR="0" rtl="0" algn="ctr">
              <a:lnSpc>
                <a:spcPct val="150000"/>
              </a:lnSpc>
              <a:spcBef>
                <a:spcPts val="0"/>
              </a:spcBef>
              <a:spcAft>
                <a:spcPts val="0"/>
              </a:spcAft>
              <a:buNone/>
            </a:pPr>
            <a:r>
              <a:rPr b="1" i="0" lang="en-US" sz="4400" u="none" cap="none" strike="noStrike">
                <a:solidFill>
                  <a:schemeClr val="dk1"/>
                </a:solidFill>
                <a:latin typeface="Calibri"/>
                <a:ea typeface="Calibri"/>
                <a:cs typeface="Calibri"/>
                <a:sym typeface="Calibri"/>
              </a:rPr>
              <a:t>METHODOLOGY</a:t>
            </a:r>
            <a:endParaRPr b="0" i="0" sz="4400" u="none" cap="none" strike="noStrike">
              <a:solidFill>
                <a:srgbClr val="000000"/>
              </a:solidFill>
              <a:latin typeface="Arial"/>
              <a:ea typeface="Arial"/>
              <a:cs typeface="Arial"/>
              <a:sym typeface="Arial"/>
            </a:endParaRPr>
          </a:p>
          <a:p>
            <a:pPr indent="-489130" lvl="1" marL="1028880" marR="0" rtl="0" algn="l">
              <a:lnSpc>
                <a:spcPct val="100000"/>
              </a:lnSpc>
              <a:spcBef>
                <a:spcPts val="0"/>
              </a:spcBef>
              <a:spcAft>
                <a:spcPts val="0"/>
              </a:spcAft>
              <a:buClr>
                <a:srgbClr val="000000"/>
              </a:buClr>
              <a:buSzPts val="1900"/>
              <a:buFont typeface="Noto Sans Symbols"/>
              <a:buChar char="❑"/>
            </a:pPr>
            <a:r>
              <a:rPr lang="en-US" sz="1900"/>
              <a:t>The goal of this experiment was to evaluate and compare the mapping accuracy, reliability, and consistency of two SLAM algorithms, Cartographer and SLAM Toolbox, using a controlled test environment.</a:t>
            </a:r>
            <a:endParaRPr sz="1900"/>
          </a:p>
          <a:p>
            <a:pPr indent="0" lvl="0" marL="914400" marR="0" rtl="0" algn="l">
              <a:lnSpc>
                <a:spcPct val="100000"/>
              </a:lnSpc>
              <a:spcBef>
                <a:spcPts val="0"/>
              </a:spcBef>
              <a:spcAft>
                <a:spcPts val="0"/>
              </a:spcAft>
              <a:buNone/>
            </a:pPr>
            <a:r>
              <a:t/>
            </a:r>
            <a:endParaRPr sz="1900"/>
          </a:p>
          <a:p>
            <a:pPr indent="-489130" lvl="1" marL="1028880" marR="0" rtl="0" algn="l">
              <a:lnSpc>
                <a:spcPct val="100000"/>
              </a:lnSpc>
              <a:spcBef>
                <a:spcPts val="0"/>
              </a:spcBef>
              <a:spcAft>
                <a:spcPts val="0"/>
              </a:spcAft>
              <a:buClr>
                <a:srgbClr val="000000"/>
              </a:buClr>
              <a:buSzPts val="1900"/>
              <a:buFont typeface="Noto Sans Symbols"/>
              <a:buChar char="❑"/>
            </a:pPr>
            <a:r>
              <a:rPr lang="en-US" sz="1900"/>
              <a:t>SLAM ToolBox map</a:t>
            </a:r>
            <a:endParaRPr sz="1900"/>
          </a:p>
          <a:p>
            <a:pPr indent="0" lvl="0" marL="137160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489130" lvl="1" marL="1028880" marR="0" rtl="0" algn="l">
              <a:lnSpc>
                <a:spcPct val="100000"/>
              </a:lnSpc>
              <a:spcBef>
                <a:spcPts val="0"/>
              </a:spcBef>
              <a:spcAft>
                <a:spcPts val="0"/>
              </a:spcAft>
              <a:buSzPts val="1900"/>
              <a:buChar char="❑"/>
            </a:pPr>
            <a:r>
              <a:rPr lang="en-US" sz="1900"/>
              <a:t>Cartographer map</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sz="1900"/>
          </a:p>
          <a:p>
            <a:pPr indent="-349250" lvl="1" marL="914400" marR="0" rtl="0" algn="l">
              <a:lnSpc>
                <a:spcPct val="100000"/>
              </a:lnSpc>
              <a:spcBef>
                <a:spcPts val="0"/>
              </a:spcBef>
              <a:spcAft>
                <a:spcPts val="0"/>
              </a:spcAft>
              <a:buSzPts val="1900"/>
              <a:buChar char="❑"/>
            </a:pPr>
            <a:r>
              <a:rPr lang="en-US" sz="1900">
                <a:solidFill>
                  <a:schemeClr val="dk1"/>
                </a:solidFill>
              </a:rPr>
              <a:t>To minimize experimental error and ensure the collection of accurate, real-world data, a rectangular path was outlined within the maze to serve as a fixed route for the </a:t>
            </a:r>
            <a:r>
              <a:rPr lang="en-US" sz="1900">
                <a:solidFill>
                  <a:schemeClr val="dk1"/>
                </a:solidFill>
              </a:rPr>
              <a:t>TurtleBot 3</a:t>
            </a:r>
            <a:r>
              <a:rPr lang="en-US" sz="1900">
                <a:solidFill>
                  <a:schemeClr val="dk1"/>
                </a:solidFill>
              </a:rPr>
              <a:t>. This setup allowed the robot to follow a consistent trajectory during each trial, reducing variability between runs. The robot was manually controlled by the operator using the </a:t>
            </a:r>
            <a:r>
              <a:rPr i="1" lang="en-US" sz="1900">
                <a:solidFill>
                  <a:schemeClr val="dk1"/>
                </a:solidFill>
              </a:rPr>
              <a:t>teleop</a:t>
            </a:r>
            <a:r>
              <a:rPr lang="en-US" sz="1900">
                <a:solidFill>
                  <a:schemeClr val="dk1"/>
                </a:solidFill>
              </a:rPr>
              <a:t> program, ensuring that its movements remained steady and repeatable while the SLAM algorithms captured LiDAR data. This approach provided a controlled environment for generating reliable mapping results and improved the overall precision of the comparison between Cartographer and SLAM Toolbox.</a:t>
            </a:r>
            <a:endParaRPr sz="1900">
              <a:solidFill>
                <a:schemeClr val="dk1"/>
              </a:solidFill>
            </a:endParaRPr>
          </a:p>
          <a:p>
            <a:pPr indent="0" lvl="0" marL="914400" marR="0" rtl="0" algn="l">
              <a:lnSpc>
                <a:spcPct val="100000"/>
              </a:lnSpc>
              <a:spcBef>
                <a:spcPts val="0"/>
              </a:spcBef>
              <a:spcAft>
                <a:spcPts val="0"/>
              </a:spcAft>
              <a:buNone/>
            </a:pPr>
            <a:r>
              <a:t/>
            </a:r>
            <a:endParaRPr sz="1900">
              <a:solidFill>
                <a:schemeClr val="dk1"/>
              </a:solidFill>
            </a:endParaRPr>
          </a:p>
          <a:p>
            <a:pPr indent="-349250" lvl="1" marL="914400" marR="0" rtl="0" algn="l">
              <a:lnSpc>
                <a:spcPct val="100000"/>
              </a:lnSpc>
              <a:spcBef>
                <a:spcPts val="0"/>
              </a:spcBef>
              <a:spcAft>
                <a:spcPts val="0"/>
              </a:spcAft>
              <a:buSzPts val="1900"/>
              <a:buChar char="❑"/>
            </a:pPr>
            <a:r>
              <a:rPr lang="en-US" sz="1900"/>
              <a:t>To successfully launch and operate both SLAM systems, several ROS2 packages and nodes were required to coordinate sensor data, motion control, and map visualization. The turtlebot3_bringup package was first launched to initialize the robot’s sensors, motors, and LiDAR scanner, providing access to essential topics such as /scan, /odom, and /cmd_vel. </a:t>
            </a:r>
            <a:endParaRPr sz="1900"/>
          </a:p>
          <a:p>
            <a:pPr indent="0" lvl="0" marL="914400" marR="0" rtl="0" algn="l">
              <a:lnSpc>
                <a:spcPct val="100000"/>
              </a:lnSpc>
              <a:spcBef>
                <a:spcPts val="0"/>
              </a:spcBef>
              <a:spcAft>
                <a:spcPts val="0"/>
              </a:spcAft>
              <a:buNone/>
            </a:pPr>
            <a:r>
              <a:t/>
            </a:r>
            <a:endParaRPr sz="1900"/>
          </a:p>
          <a:p>
            <a:pPr indent="-349250" lvl="1" marL="914400" marR="0" rtl="0" algn="l">
              <a:lnSpc>
                <a:spcPct val="100000"/>
              </a:lnSpc>
              <a:spcBef>
                <a:spcPts val="0"/>
              </a:spcBef>
              <a:spcAft>
                <a:spcPts val="0"/>
              </a:spcAft>
              <a:buSzPts val="1900"/>
              <a:buChar char="❑"/>
            </a:pPr>
            <a:r>
              <a:rPr lang="en-US" sz="1900"/>
              <a:t>The turtlebot3_description package supplied the robot’s URDF model, ensuring that sensor placement and frame transformations were accurately represented during mapping. </a:t>
            </a:r>
            <a:endParaRPr sz="1900"/>
          </a:p>
          <a:p>
            <a:pPr indent="0" lvl="0" marL="914400" marR="0" rtl="0" algn="l">
              <a:lnSpc>
                <a:spcPct val="100000"/>
              </a:lnSpc>
              <a:spcBef>
                <a:spcPts val="0"/>
              </a:spcBef>
              <a:spcAft>
                <a:spcPts val="0"/>
              </a:spcAft>
              <a:buNone/>
            </a:pPr>
            <a:r>
              <a:t/>
            </a:r>
            <a:endParaRPr sz="1900"/>
          </a:p>
          <a:p>
            <a:pPr indent="-349250" lvl="1" marL="914400" marR="0" rtl="0" algn="l">
              <a:lnSpc>
                <a:spcPct val="100000"/>
              </a:lnSpc>
              <a:spcBef>
                <a:spcPts val="0"/>
              </a:spcBef>
              <a:spcAft>
                <a:spcPts val="0"/>
              </a:spcAft>
              <a:buSzPts val="1900"/>
              <a:buChar char="❑"/>
            </a:pPr>
            <a:r>
              <a:rPr lang="en-US" sz="1900"/>
              <a:t>For SLAM Toolbox, the slam_toolbox_bringup package was used to start the main SLAM node responsible for real-time scan matching and pose graph optimization. </a:t>
            </a:r>
            <a:endParaRPr sz="1900"/>
          </a:p>
          <a:p>
            <a:pPr indent="0" lvl="0" marL="914400" marR="0" rtl="0" algn="l">
              <a:lnSpc>
                <a:spcPct val="100000"/>
              </a:lnSpc>
              <a:spcBef>
                <a:spcPts val="0"/>
              </a:spcBef>
              <a:spcAft>
                <a:spcPts val="0"/>
              </a:spcAft>
              <a:buNone/>
            </a:pPr>
            <a:r>
              <a:t/>
            </a:r>
            <a:endParaRPr sz="1900"/>
          </a:p>
          <a:p>
            <a:pPr indent="-349250" lvl="1" marL="914400" marR="0" rtl="0" algn="l">
              <a:lnSpc>
                <a:spcPct val="100000"/>
              </a:lnSpc>
              <a:spcBef>
                <a:spcPts val="0"/>
              </a:spcBef>
              <a:spcAft>
                <a:spcPts val="0"/>
              </a:spcAft>
              <a:buSzPts val="1900"/>
              <a:buChar char="❑"/>
            </a:pPr>
            <a:r>
              <a:rPr lang="en-US" sz="1900"/>
              <a:t>Cartographer relied on the cartographer_ros and cartographer_bringup packages to initialize its 2D SLAM node and occupancy grid conversion node, which together built and visualized the map. </a:t>
            </a:r>
            <a:endParaRPr sz="1900"/>
          </a:p>
          <a:p>
            <a:pPr indent="0" lvl="0" marL="914400" marR="0" rtl="0" algn="l">
              <a:lnSpc>
                <a:spcPct val="100000"/>
              </a:lnSpc>
              <a:spcBef>
                <a:spcPts val="0"/>
              </a:spcBef>
              <a:spcAft>
                <a:spcPts val="0"/>
              </a:spcAft>
              <a:buNone/>
            </a:pPr>
            <a:r>
              <a:t/>
            </a:r>
            <a:endParaRPr sz="1900"/>
          </a:p>
          <a:p>
            <a:pPr indent="-349250" lvl="1" marL="914400" marR="0" rtl="0" algn="l">
              <a:lnSpc>
                <a:spcPct val="100000"/>
              </a:lnSpc>
              <a:spcBef>
                <a:spcPts val="0"/>
              </a:spcBef>
              <a:spcAft>
                <a:spcPts val="0"/>
              </a:spcAft>
              <a:buSzPts val="1900"/>
              <a:buChar char="❑"/>
            </a:pPr>
            <a:r>
              <a:rPr lang="en-US" sz="1900"/>
              <a:t>RViz 2</a:t>
            </a:r>
            <a:r>
              <a:rPr lang="en-US" sz="1900"/>
              <a:t> served as the visualization tool, allowing live observation of LiDAR data and the evolving occupancy grid maps. Together, these packages and nodes enabled the </a:t>
            </a:r>
            <a:r>
              <a:rPr lang="en-US" sz="1900"/>
              <a:t>TurtleBot 3</a:t>
            </a:r>
            <a:r>
              <a:rPr lang="en-US" sz="1900"/>
              <a:t> to navigate, collect sensor data, and generate comparable maps for both SLAM algorithms under identical experimental conditions.</a:t>
            </a:r>
            <a:endParaRPr sz="1900"/>
          </a:p>
          <a:p>
            <a:pPr indent="0" lvl="0" marL="0" marR="0" rtl="0" algn="l">
              <a:lnSpc>
                <a:spcPct val="100000"/>
              </a:lnSpc>
              <a:spcBef>
                <a:spcPts val="0"/>
              </a:spcBef>
              <a:spcAft>
                <a:spcPts val="0"/>
              </a:spcAft>
              <a:buNone/>
            </a:pPr>
            <a:r>
              <a:t/>
            </a:r>
            <a:endParaRPr sz="3200"/>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p:txBody>
      </p:sp>
      <p:sp>
        <p:nvSpPr>
          <p:cNvPr id="25" name="Google Shape;25;p1"/>
          <p:cNvSpPr/>
          <p:nvPr/>
        </p:nvSpPr>
        <p:spPr>
          <a:xfrm>
            <a:off x="652320" y="16349400"/>
            <a:ext cx="11742120" cy="5714640"/>
          </a:xfrm>
          <a:prstGeom prst="rect">
            <a:avLst/>
          </a:prstGeom>
          <a:noFill/>
          <a:ln cap="flat" cmpd="sng" w="203200">
            <a:solidFill>
              <a:srgbClr val="595959"/>
            </a:solidFill>
            <a:prstDash val="solid"/>
            <a:round/>
            <a:headEnd len="sm" w="sm" type="none"/>
            <a:tailEnd len="sm" w="sm" type="none"/>
          </a:ln>
        </p:spPr>
        <p:txBody>
          <a:bodyPr anchorCtr="0" anchor="t" bIns="274300" lIns="90000" spcFirstLastPara="1" rIns="274300" wrap="square" tIns="45000">
            <a:spAutoFit/>
          </a:bodyPr>
          <a:lstStyle/>
          <a:p>
            <a:pPr indent="0" lvl="0" marL="0" marR="0" rtl="0" algn="ctr">
              <a:lnSpc>
                <a:spcPct val="150000"/>
              </a:lnSpc>
              <a:spcBef>
                <a:spcPts val="0"/>
              </a:spcBef>
              <a:spcAft>
                <a:spcPts val="0"/>
              </a:spcAft>
              <a:buNone/>
            </a:pPr>
            <a:r>
              <a:rPr b="1" i="0" lang="en-US" sz="4400" u="none" cap="none" strike="noStrike">
                <a:solidFill>
                  <a:schemeClr val="dk1"/>
                </a:solidFill>
                <a:latin typeface="Calibri"/>
                <a:ea typeface="Calibri"/>
                <a:cs typeface="Calibri"/>
                <a:sym typeface="Calibri"/>
              </a:rPr>
              <a:t>BACKGROUND/PRIOR WORKS</a:t>
            </a:r>
            <a:endParaRPr b="0" i="0" sz="4400" u="none" cap="none" strike="noStrike">
              <a:solidFill>
                <a:srgbClr val="000000"/>
              </a:solidFill>
              <a:latin typeface="Arial"/>
              <a:ea typeface="Arial"/>
              <a:cs typeface="Arial"/>
              <a:sym typeface="Arial"/>
            </a:endParaRPr>
          </a:p>
          <a:p>
            <a:pPr indent="-374650" lvl="1" marL="914400" marR="0" rtl="0" algn="l">
              <a:lnSpc>
                <a:spcPct val="100000"/>
              </a:lnSpc>
              <a:spcBef>
                <a:spcPts val="0"/>
              </a:spcBef>
              <a:spcAft>
                <a:spcPts val="0"/>
              </a:spcAft>
              <a:buClr>
                <a:srgbClr val="000000"/>
              </a:buClr>
              <a:buSzPts val="1900"/>
              <a:buFont typeface="Noto Sans Symbols"/>
              <a:buChar char="❑"/>
            </a:pPr>
            <a:r>
              <a:rPr lang="en-US" sz="1900">
                <a:solidFill>
                  <a:schemeClr val="dk1"/>
                </a:solidFill>
              </a:rPr>
              <a:t>Over the summer, I expanded on this research by experimenting with another SLAM framework known as TinySLAM. During this phase, I conducted additional mapping tests and used Python’s Matplotlib library to visualize the LiDAR sensor data collected from the robot. This helped me better understand how different SLAM algorithms interpret spatial information and generate maps in real time.</a:t>
            </a:r>
            <a:endParaRPr i="0" sz="1900" u="none" cap="none" strike="noStrike">
              <a:solidFill>
                <a:srgbClr val="000000"/>
              </a:solidFil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p:txBody>
      </p:sp>
      <p:sp>
        <p:nvSpPr>
          <p:cNvPr id="26" name="Google Shape;26;p1"/>
          <p:cNvSpPr/>
          <p:nvPr/>
        </p:nvSpPr>
        <p:spPr>
          <a:xfrm>
            <a:off x="24409800" y="17477640"/>
            <a:ext cx="11513520" cy="8062200"/>
          </a:xfrm>
          <a:prstGeom prst="rect">
            <a:avLst/>
          </a:prstGeom>
          <a:noFill/>
          <a:ln cap="flat" cmpd="sng" w="203200">
            <a:solidFill>
              <a:srgbClr val="595959"/>
            </a:solidFill>
            <a:prstDash val="solid"/>
            <a:round/>
            <a:headEnd len="sm" w="sm" type="none"/>
            <a:tailEnd len="sm" w="sm" type="none"/>
          </a:ln>
        </p:spPr>
        <p:txBody>
          <a:bodyPr anchorCtr="0" anchor="t" bIns="182875" lIns="90000" spcFirstLastPara="1" rIns="90000" wrap="square" tIns="45000">
            <a:spAutoFit/>
          </a:bodyPr>
          <a:lstStyle/>
          <a:p>
            <a:pPr indent="0" lvl="0" marL="0" rtl="0" algn="ctr">
              <a:lnSpc>
                <a:spcPct val="150000"/>
              </a:lnSpc>
              <a:spcBef>
                <a:spcPts val="0"/>
              </a:spcBef>
              <a:spcAft>
                <a:spcPts val="0"/>
              </a:spcAft>
              <a:buNone/>
            </a:pPr>
            <a:r>
              <a:rPr b="1" lang="en-US" sz="4400">
                <a:solidFill>
                  <a:schemeClr val="dk1"/>
                </a:solidFill>
              </a:rPr>
              <a:t>DISCUSSION</a:t>
            </a:r>
            <a:endParaRPr b="1" sz="1900">
              <a:solidFill>
                <a:schemeClr val="dk1"/>
              </a:solidFill>
            </a:endParaRPr>
          </a:p>
          <a:p>
            <a:pPr indent="457200" lvl="0" marL="0" rtl="0" algn="l">
              <a:lnSpc>
                <a:spcPct val="150000"/>
              </a:lnSpc>
              <a:spcBef>
                <a:spcPts val="0"/>
              </a:spcBef>
              <a:spcAft>
                <a:spcPts val="0"/>
              </a:spcAft>
              <a:buNone/>
            </a:pPr>
            <a:r>
              <a:rPr lang="en-US" sz="1900"/>
              <a:t>The comparative analysis between Cartographer and SLAM Toolbox revealed that while both algorithms are capable of generating consistent maps, their approaches to spatial reconstruction differ in accuracy and structure. SLAM Toolbox demonstrated stronger local precision, capturing sharper edges and more geometrically accurate outlines of smaller features such as Boxes 2 and 4. This finding suggests that its pose-graph optimization technique provides higher fidelity in local scan alignment, especially when LiDAR reflections occur at short ranges.</a:t>
            </a:r>
            <a:endParaRPr sz="1900"/>
          </a:p>
          <a:p>
            <a:pPr indent="457200" lvl="0" marL="0" rtl="0" algn="l">
              <a:lnSpc>
                <a:spcPct val="150000"/>
              </a:lnSpc>
              <a:spcBef>
                <a:spcPts val="0"/>
              </a:spcBef>
              <a:spcAft>
                <a:spcPts val="0"/>
              </a:spcAft>
              <a:buNone/>
            </a:pPr>
            <a:r>
              <a:rPr lang="en-US" sz="1900"/>
              <a:t>Cartographer, on the other hand, produced smoother and more visually continuous maps. However, this global consistency came at the cost of over-generalizing small structures, resulting in larger percent errors for compact features. The algorithm’s scan-matching and loop-closure heuristics emphasize global map cohesion, which can cause rounding effects in confined spaces.</a:t>
            </a:r>
            <a:endParaRPr sz="1900"/>
          </a:p>
          <a:p>
            <a:pPr indent="457200" lvl="0" marL="0" rtl="0" algn="l">
              <a:lnSpc>
                <a:spcPct val="150000"/>
              </a:lnSpc>
              <a:spcBef>
                <a:spcPts val="0"/>
              </a:spcBef>
              <a:spcAft>
                <a:spcPts val="0"/>
              </a:spcAft>
              <a:buNone/>
            </a:pPr>
            <a:r>
              <a:rPr lang="en-US" sz="1900"/>
              <a:t>In conclusion, every effort was made to minimize experimental error during data collection. The maze was hand-constructed, and the robot was manually guided along a fixed path marked with painter’s tape to maintain consistent distance from the walls during mapping. While small variations in driving precision and manual measurement may have introduced minor errors in the recorded dimensions, these discrepancies were minimal compared to the clear performance differences observed between the two SLAM algorithms.</a:t>
            </a:r>
            <a:endParaRPr sz="1900"/>
          </a:p>
          <a:p>
            <a:pPr indent="0" lvl="0" marL="0" marR="0" rtl="0" algn="l">
              <a:lnSpc>
                <a:spcPct val="100000"/>
              </a:lnSpc>
              <a:spcBef>
                <a:spcPts val="0"/>
              </a:spcBef>
              <a:spcAft>
                <a:spcPts val="0"/>
              </a:spcAft>
              <a:buNone/>
            </a:pPr>
            <a:r>
              <a:t/>
            </a:r>
            <a:endParaRPr sz="3200"/>
          </a:p>
          <a:p>
            <a:pPr indent="0" lvl="0" marL="0" marR="0" rtl="0" algn="l">
              <a:lnSpc>
                <a:spcPct val="100000"/>
              </a:lnSpc>
              <a:spcBef>
                <a:spcPts val="0"/>
              </a:spcBef>
              <a:spcAft>
                <a:spcPts val="0"/>
              </a:spcAft>
              <a:buNone/>
            </a:pPr>
            <a:r>
              <a:t/>
            </a:r>
            <a:endParaRPr sz="3200"/>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p:txBody>
      </p:sp>
      <p:sp>
        <p:nvSpPr>
          <p:cNvPr id="27" name="Google Shape;27;p1"/>
          <p:cNvSpPr/>
          <p:nvPr/>
        </p:nvSpPr>
        <p:spPr>
          <a:xfrm>
            <a:off x="24409800" y="26006040"/>
            <a:ext cx="11513520" cy="2544120"/>
          </a:xfrm>
          <a:prstGeom prst="rect">
            <a:avLst/>
          </a:prstGeom>
          <a:noFill/>
          <a:ln cap="flat" cmpd="sng" w="203200">
            <a:solidFill>
              <a:srgbClr val="595959"/>
            </a:solidFill>
            <a:prstDash val="solid"/>
            <a:round/>
            <a:headEnd len="sm" w="sm" type="none"/>
            <a:tailEnd len="sm" w="sm" type="none"/>
          </a:ln>
        </p:spPr>
        <p:txBody>
          <a:bodyPr anchorCtr="0" anchor="t" bIns="274300" lIns="90000" spcFirstLastPara="1" rIns="90000" wrap="square" tIns="45000">
            <a:spAutoFit/>
          </a:bodyPr>
          <a:lstStyle/>
          <a:p>
            <a:pPr indent="0" lvl="0" marL="0" marR="0" rtl="0" algn="ctr">
              <a:lnSpc>
                <a:spcPct val="150000"/>
              </a:lnSpc>
              <a:spcBef>
                <a:spcPts val="0"/>
              </a:spcBef>
              <a:spcAft>
                <a:spcPts val="0"/>
              </a:spcAft>
              <a:buNone/>
            </a:pPr>
            <a:r>
              <a:rPr b="1" i="0" lang="en-US" sz="4400" u="none" cap="none" strike="noStrike">
                <a:solidFill>
                  <a:schemeClr val="dk1"/>
                </a:solidFill>
                <a:latin typeface="Calibri"/>
                <a:ea typeface="Calibri"/>
                <a:cs typeface="Calibri"/>
                <a:sym typeface="Calibri"/>
              </a:rPr>
              <a:t>REFERENCES</a:t>
            </a:r>
            <a:endParaRPr b="0" i="0" sz="4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000000"/>
              </a:buClr>
              <a:buSzPts val="1900"/>
              <a:buFont typeface="Arial"/>
              <a:buChar char="❏"/>
            </a:pPr>
            <a:r>
              <a:rPr lang="en-US" sz="1900"/>
              <a:t>ROBOTIS. (n.d.). TurtleBot3 quick start guide. ROBOTIS e-Manual. Retrieved November 2, 2025, from </a:t>
            </a:r>
            <a:r>
              <a:rPr lang="en-US" sz="1900" u="sng">
                <a:solidFill>
                  <a:schemeClr val="hlink"/>
                </a:solidFill>
                <a:hlinkClick r:id="rId3"/>
              </a:rPr>
              <a:t>https://emanual.robotis.com/docs/en/platform/turtlebot3/quick-start/</a:t>
            </a:r>
            <a:endParaRPr sz="1900"/>
          </a:p>
          <a:p>
            <a:pPr indent="-349250" lvl="0" marL="457200" marR="0" rtl="0" algn="l">
              <a:lnSpc>
                <a:spcPct val="100000"/>
              </a:lnSpc>
              <a:spcBef>
                <a:spcPts val="0"/>
              </a:spcBef>
              <a:spcAft>
                <a:spcPts val="0"/>
              </a:spcAft>
              <a:buSzPts val="1900"/>
              <a:buChar char="❏"/>
            </a:pPr>
            <a:r>
              <a:rPr lang="en-US" sz="1900"/>
              <a:t>Articulated Robotics. (n.d.). Getting ready to build a ROS robot. Retrieved November 2, 2025, from </a:t>
            </a:r>
            <a:r>
              <a:rPr lang="en-US" sz="1900" u="sng">
                <a:solidFill>
                  <a:schemeClr val="hlink"/>
                </a:solidFill>
                <a:hlinkClick r:id="rId4"/>
              </a:rPr>
              <a:t>https://articulatedrobotics.xyz/category/getting-ready-to-build-a-ros-robot</a:t>
            </a:r>
            <a:r>
              <a:rPr lang="en-US" sz="1900"/>
              <a:t> </a:t>
            </a:r>
            <a:endParaRPr sz="1900"/>
          </a:p>
          <a:p>
            <a:pPr indent="0" lvl="0" marL="45720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28" name="Google Shape;28;p1"/>
          <p:cNvSpPr/>
          <p:nvPr/>
        </p:nvSpPr>
        <p:spPr>
          <a:xfrm>
            <a:off x="667080" y="22798800"/>
            <a:ext cx="11742120" cy="5760360"/>
          </a:xfrm>
          <a:prstGeom prst="rect">
            <a:avLst/>
          </a:prstGeom>
          <a:noFill/>
          <a:ln cap="flat" cmpd="sng" w="203200">
            <a:solidFill>
              <a:srgbClr val="595959"/>
            </a:solidFill>
            <a:prstDash val="solid"/>
            <a:round/>
            <a:headEnd len="sm" w="sm" type="none"/>
            <a:tailEnd len="sm" w="sm" type="none"/>
          </a:ln>
        </p:spPr>
        <p:txBody>
          <a:bodyPr anchorCtr="0" anchor="t" bIns="320025" lIns="90000" spcFirstLastPara="1" rIns="90000" wrap="square" tIns="45000">
            <a:spAutoFit/>
          </a:bodyPr>
          <a:lstStyle/>
          <a:p>
            <a:pPr indent="0" lvl="0" marL="0" marR="0" rtl="0" algn="ctr">
              <a:lnSpc>
                <a:spcPct val="150000"/>
              </a:lnSpc>
              <a:spcBef>
                <a:spcPts val="0"/>
              </a:spcBef>
              <a:spcAft>
                <a:spcPts val="0"/>
              </a:spcAft>
              <a:buNone/>
            </a:pPr>
            <a:r>
              <a:rPr b="1" i="0" lang="en-US" sz="4400" u="none" cap="none" strike="noStrike">
                <a:solidFill>
                  <a:schemeClr val="dk1"/>
                </a:solidFill>
                <a:latin typeface="Calibri"/>
                <a:ea typeface="Calibri"/>
                <a:cs typeface="Calibri"/>
                <a:sym typeface="Calibri"/>
              </a:rPr>
              <a:t>PROBLEM FORMULATION</a:t>
            </a:r>
            <a:endParaRPr b="0" i="0" sz="4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rPr lang="en-US" sz="1900">
                <a:solidFill>
                  <a:schemeClr val="dk1"/>
                </a:solidFill>
              </a:rPr>
              <a:t>The primary problem addressed in this project is determining which SLAM (Simultaneous Localization and Mapping) algorithm Cartographer or SLAM Toolbox produces more accurate and consistent maps under identical conditions. Both algorithms are widely used for autonomous navigation but often yield different results depending on factors such as sensor noise environment environment geometry. These variations can directly affect a robot’s ability to localize itself and navigate efficiently. Therefore, this study formulates the problem as a comparative analysis of mapping accuracy, reliability, and structural consistency between the two SLAM systems. By using a controlled maze environment with fixed ground-truth measurements, the experiment aims to quantify the deviations between generated maps and real-world dimensions, ultimately identifying which algorithm provides more precise geometric representation and better overall performance for </a:t>
            </a:r>
            <a:r>
              <a:rPr lang="en-US" sz="1900">
                <a:solidFill>
                  <a:schemeClr val="dk1"/>
                </a:solidFill>
              </a:rPr>
              <a:t>TurtleBot 3</a:t>
            </a:r>
            <a:r>
              <a:rPr lang="en-US" sz="1900">
                <a:solidFill>
                  <a:schemeClr val="dk1"/>
                </a:solidFill>
              </a:rPr>
              <a:t> applications.</a:t>
            </a:r>
            <a:endParaRPr i="0" sz="1900" u="none" cap="none" strike="noStrike">
              <a:solidFill>
                <a:srgbClr val="000000"/>
              </a:solidFill>
            </a:endParaRPr>
          </a:p>
          <a:p>
            <a:pPr indent="0" lvl="0" marL="45720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p:txBody>
      </p:sp>
      <p:pic>
        <p:nvPicPr>
          <p:cNvPr id="29" name="Google Shape;29;p1"/>
          <p:cNvPicPr preferRelativeResize="0"/>
          <p:nvPr/>
        </p:nvPicPr>
        <p:blipFill rotWithShape="1">
          <a:blip r:embed="rId5">
            <a:alphaModFix/>
          </a:blip>
          <a:srcRect b="0" l="0" r="0" t="0"/>
          <a:stretch/>
        </p:blipFill>
        <p:spPr>
          <a:xfrm>
            <a:off x="621720" y="118440"/>
            <a:ext cx="7559640" cy="4048920"/>
          </a:xfrm>
          <a:prstGeom prst="rect">
            <a:avLst/>
          </a:prstGeom>
          <a:noFill/>
          <a:ln>
            <a:noFill/>
          </a:ln>
        </p:spPr>
      </p:pic>
      <p:pic>
        <p:nvPicPr>
          <p:cNvPr id="30" name="Google Shape;30;p1" title="2025-11-02_15-05.png"/>
          <p:cNvPicPr preferRelativeResize="0"/>
          <p:nvPr/>
        </p:nvPicPr>
        <p:blipFill>
          <a:blip r:embed="rId6">
            <a:alphaModFix/>
          </a:blip>
          <a:stretch>
            <a:fillRect/>
          </a:stretch>
        </p:blipFill>
        <p:spPr>
          <a:xfrm>
            <a:off x="2022162" y="6458675"/>
            <a:ext cx="9002326" cy="5064700"/>
          </a:xfrm>
          <a:prstGeom prst="rect">
            <a:avLst/>
          </a:prstGeom>
          <a:noFill/>
          <a:ln cap="flat" cmpd="sng" w="9525">
            <a:solidFill>
              <a:srgbClr val="595959"/>
            </a:solidFill>
            <a:prstDash val="solid"/>
            <a:round/>
            <a:headEnd len="sm" w="sm" type="none"/>
            <a:tailEnd len="sm" w="sm" type="none"/>
          </a:ln>
        </p:spPr>
      </p:pic>
      <p:pic>
        <p:nvPicPr>
          <p:cNvPr id="31" name="Google Shape;31;p1" title="Screenshot from 2025-07-07 09-53-30.png"/>
          <p:cNvPicPr preferRelativeResize="0"/>
          <p:nvPr/>
        </p:nvPicPr>
        <p:blipFill>
          <a:blip r:embed="rId7">
            <a:alphaModFix/>
          </a:blip>
          <a:stretch>
            <a:fillRect/>
          </a:stretch>
        </p:blipFill>
        <p:spPr>
          <a:xfrm>
            <a:off x="2007837" y="19135925"/>
            <a:ext cx="4787407" cy="2544100"/>
          </a:xfrm>
          <a:prstGeom prst="rect">
            <a:avLst/>
          </a:prstGeom>
          <a:noFill/>
          <a:ln cap="flat" cmpd="sng" w="9525">
            <a:solidFill>
              <a:srgbClr val="595959"/>
            </a:solidFill>
            <a:prstDash val="solid"/>
            <a:round/>
            <a:headEnd len="sm" w="sm" type="none"/>
            <a:tailEnd len="sm" w="sm" type="none"/>
          </a:ln>
        </p:spPr>
      </p:pic>
      <p:pic>
        <p:nvPicPr>
          <p:cNvPr id="32" name="Google Shape;32;p1" title="turtlebot3_burger_components.png"/>
          <p:cNvPicPr preferRelativeResize="0"/>
          <p:nvPr/>
        </p:nvPicPr>
        <p:blipFill>
          <a:blip r:embed="rId8">
            <a:alphaModFix/>
          </a:blip>
          <a:stretch>
            <a:fillRect/>
          </a:stretch>
        </p:blipFill>
        <p:spPr>
          <a:xfrm>
            <a:off x="8167324" y="19135925"/>
            <a:ext cx="2778616" cy="2544100"/>
          </a:xfrm>
          <a:prstGeom prst="rect">
            <a:avLst/>
          </a:prstGeom>
          <a:noFill/>
          <a:ln cap="flat" cmpd="sng" w="9525">
            <a:solidFill>
              <a:srgbClr val="595959"/>
            </a:solidFill>
            <a:prstDash val="solid"/>
            <a:round/>
            <a:headEnd len="sm" w="sm" type="none"/>
            <a:tailEnd len="sm" w="sm" type="none"/>
          </a:ln>
        </p:spPr>
      </p:pic>
      <p:graphicFrame>
        <p:nvGraphicFramePr>
          <p:cNvPr id="33" name="Google Shape;33;p1"/>
          <p:cNvGraphicFramePr/>
          <p:nvPr/>
        </p:nvGraphicFramePr>
        <p:xfrm>
          <a:off x="24623975" y="6321013"/>
          <a:ext cx="3000000" cy="3000000"/>
        </p:xfrm>
        <a:graphic>
          <a:graphicData uri="http://schemas.openxmlformats.org/drawingml/2006/table">
            <a:tbl>
              <a:tblPr>
                <a:noFill/>
                <a:tableStyleId>{7A4E7872-0812-4765-81A9-F5A6F7A6E2E7}</a:tableStyleId>
              </a:tblPr>
              <a:tblGrid>
                <a:gridCol w="1847525"/>
                <a:gridCol w="1847525"/>
                <a:gridCol w="1847525"/>
                <a:gridCol w="1847525"/>
                <a:gridCol w="1847525"/>
                <a:gridCol w="1847525"/>
              </a:tblGrid>
              <a:tr h="557775">
                <a:tc>
                  <a:txBody>
                    <a:bodyPr/>
                    <a:lstStyle/>
                    <a:p>
                      <a:pPr indent="0" lvl="0" marL="0" rtl="0" algn="ctr">
                        <a:spcBef>
                          <a:spcPts val="0"/>
                        </a:spcBef>
                        <a:spcAft>
                          <a:spcPts val="0"/>
                        </a:spcAft>
                        <a:buClr>
                          <a:schemeClr val="dk1"/>
                        </a:buClr>
                        <a:buSzPts val="1100"/>
                        <a:buFont typeface="Arial"/>
                        <a:buNone/>
                      </a:pPr>
                      <a:r>
                        <a:rPr b="1" lang="en-US" sz="2000">
                          <a:solidFill>
                            <a:schemeClr val="dk1"/>
                          </a:solidFill>
                        </a:rPr>
                        <a:t>Feature </a:t>
                      </a:r>
                      <a:endParaRPr sz="20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US" sz="2000">
                          <a:solidFill>
                            <a:schemeClr val="dk1"/>
                          </a:solidFill>
                        </a:rPr>
                        <a:t>Ground Truth Area</a:t>
                      </a:r>
                      <a:endParaRPr sz="20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US" sz="2000">
                          <a:solidFill>
                            <a:schemeClr val="dk1"/>
                          </a:solidFill>
                        </a:rPr>
                        <a:t>Cartographer Area</a:t>
                      </a:r>
                      <a:endParaRPr sz="20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US" sz="2000">
                          <a:solidFill>
                            <a:schemeClr val="dk1"/>
                          </a:solidFill>
                        </a:rPr>
                        <a:t>% Error</a:t>
                      </a:r>
                      <a:endParaRPr sz="20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US" sz="2000">
                          <a:solidFill>
                            <a:schemeClr val="dk1"/>
                          </a:solidFill>
                        </a:rPr>
                        <a:t>Slam Toolbox Area</a:t>
                      </a:r>
                      <a:endParaRPr sz="20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US" sz="2000">
                          <a:solidFill>
                            <a:schemeClr val="dk1"/>
                          </a:solidFill>
                        </a:rPr>
                        <a:t>% Error</a:t>
                      </a:r>
                      <a:endParaRPr sz="20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529925">
                <a:tc>
                  <a:txBody>
                    <a:bodyPr/>
                    <a:lstStyle/>
                    <a:p>
                      <a:pPr indent="0" lvl="0" marL="0" rtl="0" algn="l">
                        <a:spcBef>
                          <a:spcPts val="0"/>
                        </a:spcBef>
                        <a:spcAft>
                          <a:spcPts val="0"/>
                        </a:spcAft>
                        <a:buNone/>
                      </a:pPr>
                      <a:r>
                        <a:rPr lang="en-US" sz="1900"/>
                        <a:t>Maze </a:t>
                      </a:r>
                      <a:endParaRPr sz="19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sz="1900">
                          <a:solidFill>
                            <a:schemeClr val="dk1"/>
                          </a:solidFill>
                        </a:rPr>
                        <a:t>3.344m</a:t>
                      </a:r>
                      <a:r>
                        <a:rPr baseline="30000" lang="en-US" sz="1900">
                          <a:solidFill>
                            <a:schemeClr val="dk1"/>
                          </a:solidFill>
                        </a:rPr>
                        <a:t>2</a:t>
                      </a:r>
                      <a:endParaRPr baseline="30000" sz="19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sz="1900">
                          <a:solidFill>
                            <a:schemeClr val="dk1"/>
                          </a:solidFill>
                        </a:rPr>
                        <a:t>3.675</a:t>
                      </a:r>
                      <a:r>
                        <a:rPr lang="en-US" sz="1900">
                          <a:solidFill>
                            <a:schemeClr val="dk1"/>
                          </a:solidFill>
                        </a:rPr>
                        <a:t>m</a:t>
                      </a:r>
                      <a:r>
                        <a:rPr baseline="30000" lang="en-US" sz="1900">
                          <a:solidFill>
                            <a:schemeClr val="dk1"/>
                          </a:solidFill>
                        </a:rPr>
                        <a:t>2</a:t>
                      </a:r>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900"/>
                        <a:t>9%</a:t>
                      </a:r>
                      <a:endParaRPr sz="19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sz="1900">
                          <a:solidFill>
                            <a:schemeClr val="dk1"/>
                          </a:solidFill>
                        </a:rPr>
                        <a:t>3.36</a:t>
                      </a:r>
                      <a:r>
                        <a:rPr lang="en-US" sz="1900">
                          <a:solidFill>
                            <a:schemeClr val="dk1"/>
                          </a:solidFill>
                        </a:rPr>
                        <a:t>m</a:t>
                      </a:r>
                      <a:r>
                        <a:rPr baseline="30000" lang="en-US" sz="1900">
                          <a:solidFill>
                            <a:schemeClr val="dk1"/>
                          </a:solidFill>
                        </a:rPr>
                        <a:t>2</a:t>
                      </a:r>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900"/>
                        <a:t>0.47%</a:t>
                      </a:r>
                      <a:endParaRPr sz="19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551075">
                <a:tc>
                  <a:txBody>
                    <a:bodyPr/>
                    <a:lstStyle/>
                    <a:p>
                      <a:pPr indent="0" lvl="0" marL="0" rtl="0" algn="l">
                        <a:spcBef>
                          <a:spcPts val="0"/>
                        </a:spcBef>
                        <a:spcAft>
                          <a:spcPts val="0"/>
                        </a:spcAft>
                        <a:buNone/>
                      </a:pPr>
                      <a:r>
                        <a:rPr lang="en-US" sz="1900"/>
                        <a:t>Box 1 </a:t>
                      </a:r>
                      <a:endParaRPr sz="19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sz="1900">
                          <a:solidFill>
                            <a:schemeClr val="dk1"/>
                          </a:solidFill>
                        </a:rPr>
                        <a:t>0.1865</a:t>
                      </a:r>
                      <a:r>
                        <a:rPr lang="en-US" sz="1900">
                          <a:solidFill>
                            <a:schemeClr val="dk1"/>
                          </a:solidFill>
                        </a:rPr>
                        <a:t>m</a:t>
                      </a:r>
                      <a:r>
                        <a:rPr baseline="30000" lang="en-US" sz="1900">
                          <a:solidFill>
                            <a:schemeClr val="dk1"/>
                          </a:solidFill>
                        </a:rPr>
                        <a:t>2</a:t>
                      </a:r>
                      <a:endParaRPr sz="19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sz="1900">
                          <a:solidFill>
                            <a:schemeClr val="dk1"/>
                          </a:solidFill>
                        </a:rPr>
                        <a:t>0.14</a:t>
                      </a:r>
                      <a:r>
                        <a:rPr lang="en-US" sz="1900">
                          <a:solidFill>
                            <a:schemeClr val="dk1"/>
                          </a:solidFill>
                        </a:rPr>
                        <a:t>m</a:t>
                      </a:r>
                      <a:r>
                        <a:rPr baseline="30000" lang="en-US" sz="1900">
                          <a:solidFill>
                            <a:schemeClr val="dk1"/>
                          </a:solidFill>
                        </a:rPr>
                        <a:t>2</a:t>
                      </a:r>
                      <a:endParaRPr sz="19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900"/>
                        <a:t>24%</a:t>
                      </a:r>
                      <a:endParaRPr sz="19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sz="1900">
                          <a:solidFill>
                            <a:schemeClr val="dk1"/>
                          </a:solidFill>
                        </a:rPr>
                        <a:t>0.18</a:t>
                      </a:r>
                      <a:r>
                        <a:rPr lang="en-US" sz="1900">
                          <a:solidFill>
                            <a:schemeClr val="dk1"/>
                          </a:solidFill>
                        </a:rPr>
                        <a:t>m</a:t>
                      </a:r>
                      <a:r>
                        <a:rPr baseline="30000" lang="en-US" sz="1900">
                          <a:solidFill>
                            <a:schemeClr val="dk1"/>
                          </a:solidFill>
                        </a:rPr>
                        <a:t>2</a:t>
                      </a:r>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900"/>
                        <a:t>3.5%</a:t>
                      </a:r>
                      <a:endParaRPr sz="19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529925">
                <a:tc>
                  <a:txBody>
                    <a:bodyPr/>
                    <a:lstStyle/>
                    <a:p>
                      <a:pPr indent="0" lvl="0" marL="0" rtl="0" algn="l">
                        <a:spcBef>
                          <a:spcPts val="0"/>
                        </a:spcBef>
                        <a:spcAft>
                          <a:spcPts val="0"/>
                        </a:spcAft>
                        <a:buClr>
                          <a:schemeClr val="dk1"/>
                        </a:buClr>
                        <a:buSzPts val="1100"/>
                        <a:buFont typeface="Arial"/>
                        <a:buNone/>
                      </a:pPr>
                      <a:r>
                        <a:rPr lang="en-US" sz="1900">
                          <a:solidFill>
                            <a:schemeClr val="dk1"/>
                          </a:solidFill>
                        </a:rPr>
                        <a:t>Box 2 </a:t>
                      </a:r>
                      <a:endParaRPr sz="19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sz="1900">
                          <a:solidFill>
                            <a:schemeClr val="dk1"/>
                          </a:solidFill>
                        </a:rPr>
                        <a:t>0.</a:t>
                      </a:r>
                      <a:r>
                        <a:rPr lang="en-US" sz="1900">
                          <a:solidFill>
                            <a:schemeClr val="dk1"/>
                          </a:solidFill>
                        </a:rPr>
                        <a:t>1865m</a:t>
                      </a:r>
                      <a:r>
                        <a:rPr baseline="30000" lang="en-US" sz="1900">
                          <a:solidFill>
                            <a:schemeClr val="dk1"/>
                          </a:solidFill>
                        </a:rPr>
                        <a:t>2</a:t>
                      </a:r>
                      <a:endParaRPr sz="19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sz="1900">
                          <a:solidFill>
                            <a:schemeClr val="dk1"/>
                          </a:solidFill>
                        </a:rPr>
                        <a:t>0.225</a:t>
                      </a:r>
                      <a:r>
                        <a:rPr lang="en-US" sz="1900">
                          <a:solidFill>
                            <a:schemeClr val="dk1"/>
                          </a:solidFill>
                        </a:rPr>
                        <a:t>m</a:t>
                      </a:r>
                      <a:r>
                        <a:rPr baseline="30000" lang="en-US" sz="1900">
                          <a:solidFill>
                            <a:schemeClr val="dk1"/>
                          </a:solidFill>
                        </a:rPr>
                        <a:t>2</a:t>
                      </a:r>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900"/>
                        <a:t>20%</a:t>
                      </a:r>
                      <a:endParaRPr sz="19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sz="1900">
                          <a:solidFill>
                            <a:schemeClr val="dk1"/>
                          </a:solidFill>
                        </a:rPr>
                        <a:t>0.18</a:t>
                      </a:r>
                      <a:r>
                        <a:rPr lang="en-US" sz="1900">
                          <a:solidFill>
                            <a:schemeClr val="dk1"/>
                          </a:solidFill>
                        </a:rPr>
                        <a:t>m</a:t>
                      </a:r>
                      <a:r>
                        <a:rPr baseline="30000" lang="en-US" sz="1900">
                          <a:solidFill>
                            <a:schemeClr val="dk1"/>
                          </a:solidFill>
                        </a:rPr>
                        <a:t>2</a:t>
                      </a:r>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900"/>
                        <a:t>3.5%</a:t>
                      </a:r>
                      <a:endParaRPr sz="19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529925">
                <a:tc>
                  <a:txBody>
                    <a:bodyPr/>
                    <a:lstStyle/>
                    <a:p>
                      <a:pPr indent="0" lvl="0" marL="0" rtl="0" algn="l">
                        <a:spcBef>
                          <a:spcPts val="0"/>
                        </a:spcBef>
                        <a:spcAft>
                          <a:spcPts val="0"/>
                        </a:spcAft>
                        <a:buClr>
                          <a:schemeClr val="dk1"/>
                        </a:buClr>
                        <a:buSzPts val="1100"/>
                        <a:buFont typeface="Arial"/>
                        <a:buNone/>
                      </a:pPr>
                      <a:r>
                        <a:rPr lang="en-US" sz="1900">
                          <a:solidFill>
                            <a:schemeClr val="dk1"/>
                          </a:solidFill>
                        </a:rPr>
                        <a:t>Box 3</a:t>
                      </a:r>
                      <a:endParaRPr sz="19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sz="1900">
                          <a:solidFill>
                            <a:schemeClr val="dk1"/>
                          </a:solidFill>
                        </a:rPr>
                        <a:t>0.1073</a:t>
                      </a:r>
                      <a:r>
                        <a:rPr lang="en-US" sz="1900">
                          <a:solidFill>
                            <a:schemeClr val="dk1"/>
                          </a:solidFill>
                        </a:rPr>
                        <a:t>m</a:t>
                      </a:r>
                      <a:r>
                        <a:rPr baseline="30000" lang="en-US" sz="1900">
                          <a:solidFill>
                            <a:schemeClr val="dk1"/>
                          </a:solidFill>
                        </a:rPr>
                        <a:t>2</a:t>
                      </a:r>
                      <a:endParaRPr sz="19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sz="1900">
                          <a:solidFill>
                            <a:schemeClr val="dk1"/>
                          </a:solidFill>
                        </a:rPr>
                        <a:t>0.135</a:t>
                      </a:r>
                      <a:r>
                        <a:rPr lang="en-US" sz="1900">
                          <a:solidFill>
                            <a:schemeClr val="dk1"/>
                          </a:solidFill>
                        </a:rPr>
                        <a:t>m</a:t>
                      </a:r>
                      <a:r>
                        <a:rPr baseline="30000" lang="en-US" sz="1900">
                          <a:solidFill>
                            <a:schemeClr val="dk1"/>
                          </a:solidFill>
                        </a:rPr>
                        <a:t>2</a:t>
                      </a:r>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900"/>
                        <a:t>35%</a:t>
                      </a:r>
                      <a:endParaRPr sz="19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sz="1900">
                          <a:solidFill>
                            <a:schemeClr val="dk1"/>
                          </a:solidFill>
                        </a:rPr>
                        <a:t>0.124</a:t>
                      </a:r>
                      <a:r>
                        <a:rPr lang="en-US" sz="1900">
                          <a:solidFill>
                            <a:schemeClr val="dk1"/>
                          </a:solidFill>
                        </a:rPr>
                        <a:t>m</a:t>
                      </a:r>
                      <a:r>
                        <a:rPr baseline="30000" lang="en-US" sz="1900">
                          <a:solidFill>
                            <a:schemeClr val="dk1"/>
                          </a:solidFill>
                        </a:rPr>
                        <a:t>2</a:t>
                      </a:r>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900"/>
                        <a:t>15%</a:t>
                      </a:r>
                      <a:endParaRPr sz="19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529925">
                <a:tc>
                  <a:txBody>
                    <a:bodyPr/>
                    <a:lstStyle/>
                    <a:p>
                      <a:pPr indent="0" lvl="0" marL="0" rtl="0" algn="l">
                        <a:spcBef>
                          <a:spcPts val="0"/>
                        </a:spcBef>
                        <a:spcAft>
                          <a:spcPts val="0"/>
                        </a:spcAft>
                        <a:buClr>
                          <a:schemeClr val="dk1"/>
                        </a:buClr>
                        <a:buSzPts val="1100"/>
                        <a:buFont typeface="Arial"/>
                        <a:buNone/>
                      </a:pPr>
                      <a:r>
                        <a:rPr lang="en-US" sz="1900">
                          <a:solidFill>
                            <a:schemeClr val="dk1"/>
                          </a:solidFill>
                        </a:rPr>
                        <a:t>Box 4</a:t>
                      </a:r>
                      <a:endParaRPr sz="19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sz="1900">
                          <a:solidFill>
                            <a:schemeClr val="dk1"/>
                          </a:solidFill>
                        </a:rPr>
                        <a:t>0.07</a:t>
                      </a:r>
                      <a:r>
                        <a:rPr lang="en-US" sz="1900">
                          <a:solidFill>
                            <a:schemeClr val="dk1"/>
                          </a:solidFill>
                        </a:rPr>
                        <a:t>m</a:t>
                      </a:r>
                      <a:r>
                        <a:rPr baseline="30000" lang="en-US" sz="1900">
                          <a:solidFill>
                            <a:schemeClr val="dk1"/>
                          </a:solidFill>
                        </a:rPr>
                        <a:t>2</a:t>
                      </a:r>
                      <a:endParaRPr sz="19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sz="1900">
                          <a:solidFill>
                            <a:schemeClr val="dk1"/>
                          </a:solidFill>
                        </a:rPr>
                        <a:t>0.105</a:t>
                      </a:r>
                      <a:r>
                        <a:rPr lang="en-US" sz="1900">
                          <a:solidFill>
                            <a:schemeClr val="dk1"/>
                          </a:solidFill>
                        </a:rPr>
                        <a:t>m</a:t>
                      </a:r>
                      <a:r>
                        <a:rPr baseline="30000" lang="en-US" sz="1900">
                          <a:solidFill>
                            <a:schemeClr val="dk1"/>
                          </a:solidFill>
                        </a:rPr>
                        <a:t>2</a:t>
                      </a:r>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900"/>
                        <a:t>50%</a:t>
                      </a:r>
                      <a:endParaRPr sz="19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sz="1900">
                          <a:solidFill>
                            <a:schemeClr val="dk1"/>
                          </a:solidFill>
                        </a:rPr>
                        <a:t>0.0875</a:t>
                      </a:r>
                      <a:r>
                        <a:rPr lang="en-US" sz="1900">
                          <a:solidFill>
                            <a:schemeClr val="dk1"/>
                          </a:solidFill>
                        </a:rPr>
                        <a:t>m</a:t>
                      </a:r>
                      <a:r>
                        <a:rPr baseline="30000" lang="en-US" sz="1900">
                          <a:solidFill>
                            <a:schemeClr val="dk1"/>
                          </a:solidFill>
                        </a:rPr>
                        <a:t>2</a:t>
                      </a:r>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900"/>
                        <a:t>25%</a:t>
                      </a:r>
                      <a:endParaRPr sz="19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pic>
        <p:nvPicPr>
          <p:cNvPr id="34" name="Google Shape;34;p1" title="cd_cartographer_run2.png"/>
          <p:cNvPicPr preferRelativeResize="0"/>
          <p:nvPr/>
        </p:nvPicPr>
        <p:blipFill>
          <a:blip r:embed="rId9">
            <a:alphaModFix/>
          </a:blip>
          <a:stretch>
            <a:fillRect/>
          </a:stretch>
        </p:blipFill>
        <p:spPr>
          <a:xfrm>
            <a:off x="13711977" y="14363013"/>
            <a:ext cx="9151695" cy="4772901"/>
          </a:xfrm>
          <a:prstGeom prst="rect">
            <a:avLst/>
          </a:prstGeom>
          <a:noFill/>
          <a:ln>
            <a:noFill/>
          </a:ln>
        </p:spPr>
      </p:pic>
      <p:pic>
        <p:nvPicPr>
          <p:cNvPr id="35" name="Google Shape;35;p1" title="cd_slam_tool_run2.png"/>
          <p:cNvPicPr preferRelativeResize="0"/>
          <p:nvPr/>
        </p:nvPicPr>
        <p:blipFill>
          <a:blip r:embed="rId10">
            <a:alphaModFix/>
          </a:blip>
          <a:stretch>
            <a:fillRect/>
          </a:stretch>
        </p:blipFill>
        <p:spPr>
          <a:xfrm>
            <a:off x="13826225" y="8480975"/>
            <a:ext cx="9151700" cy="4950743"/>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2017-11-29T07:25:31Z</dcterms:created>
  <dc:creator>Dominique Lao</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Custom</vt:lpwstr>
  </property>
  <property fmtid="{D5CDD505-2E9C-101B-9397-08002B2CF9AE}" pid="3" name="Slides">
    <vt:i4>1</vt:i4>
  </property>
</Properties>
</file>