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custom-properties+xml" PartName="/docProps/custom.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Lst>
  <p:sldSz cy="29260800" cx="36576000"/>
  <p:notesSz cx="7772400" cy="10058400"/>
  <p:embeddedFontLst>
    <p:embeddedFont>
      <p:font typeface="Gill Sans"/>
      <p:regular r:id="rId7"/>
      <p:bold r:id="rId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9" roundtripDataSignature="AMtx7mhCBJqELAIWLkT4xqriz7rU0oyNR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5C8E1AD-17B0-4AE8-800A-B4D428C9FFEB}">
  <a:tblStyle styleId="{45C8E1AD-17B0-4AE8-800A-B4D428C9FFE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GillSans-regular.fntdata"/><Relationship Id="rId8" Type="http://schemas.openxmlformats.org/officeDocument/2006/relationships/font" Target="fonts/GillSans-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295650" y="754375"/>
            <a:ext cx="5181850" cy="37719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77225" y="4777725"/>
            <a:ext cx="6217900" cy="4526275"/>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notes"/>
          <p:cNvSpPr/>
          <p:nvPr>
            <p:ph idx="2" type="sldImg"/>
          </p:nvPr>
        </p:nvSpPr>
        <p:spPr>
          <a:xfrm>
            <a:off x="1295650" y="754375"/>
            <a:ext cx="5181850" cy="37719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3"/>
          <p:cNvSpPr txBox="1"/>
          <p:nvPr>
            <p:ph type="title"/>
          </p:nvPr>
        </p:nvSpPr>
        <p:spPr>
          <a:xfrm>
            <a:off x="2743200" y="4788720"/>
            <a:ext cx="31089240" cy="101865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 name="Google Shape;12;p3"/>
          <p:cNvSpPr txBox="1"/>
          <p:nvPr>
            <p:ph idx="1" type="subTitle"/>
          </p:nvPr>
        </p:nvSpPr>
        <p:spPr>
          <a:xfrm>
            <a:off x="1828800" y="6846840"/>
            <a:ext cx="32918040" cy="1697076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3" name="Google Shape;13;p3"/>
          <p:cNvSpPr txBox="1"/>
          <p:nvPr>
            <p:ph idx="11" type="ftr"/>
          </p:nvPr>
        </p:nvSpPr>
        <p:spPr>
          <a:xfrm>
            <a:off x="12115800" y="27120600"/>
            <a:ext cx="12344040" cy="155736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000000"/>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3"/>
          <p:cNvSpPr txBox="1"/>
          <p:nvPr>
            <p:ph idx="12" type="sldNum"/>
          </p:nvPr>
        </p:nvSpPr>
        <p:spPr>
          <a:xfrm>
            <a:off x="25831800" y="27120600"/>
            <a:ext cx="8229240" cy="1557360"/>
          </a:xfrm>
          <a:prstGeom prst="rect">
            <a:avLst/>
          </a:prstGeom>
          <a:noFill/>
          <a:ln>
            <a:noFill/>
          </a:ln>
        </p:spPr>
        <p:txBody>
          <a:bodyPr anchorCtr="0" anchor="ctr" bIns="45700" lIns="91425" spcFirstLastPara="1" rIns="91425" wrap="square" tIns="45700">
            <a:noAutofit/>
          </a:bodyPr>
          <a:lstStyle>
            <a:lvl1pPr indent="0" lvl="0"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1pPr>
            <a:lvl2pPr indent="0" lvl="1"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2pPr>
            <a:lvl3pPr indent="0" lvl="2"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3pPr>
            <a:lvl4pPr indent="0" lvl="3"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4pPr>
            <a:lvl5pPr indent="0" lvl="4"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5pPr>
            <a:lvl6pPr indent="0" lvl="5"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6pPr>
            <a:lvl7pPr indent="0" lvl="6"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7pPr>
            <a:lvl8pPr indent="0" lvl="7"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8pPr>
            <a:lvl9pPr indent="0" lvl="8" marL="0" algn="r">
              <a:lnSpc>
                <a:spcPct val="100000"/>
              </a:lnSpc>
              <a:spcBef>
                <a:spcPts val="0"/>
              </a:spcBef>
              <a:buClr>
                <a:srgbClr val="888888"/>
              </a:buClr>
              <a:buSzPts val="4800"/>
              <a:buFont typeface="Calibri"/>
              <a:buNone/>
              <a:defRPr b="0" sz="4800"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3"/>
          <p:cNvSpPr txBox="1"/>
          <p:nvPr>
            <p:ph idx="10" type="dt"/>
          </p:nvPr>
        </p:nvSpPr>
        <p:spPr>
          <a:xfrm>
            <a:off x="2514600" y="27120600"/>
            <a:ext cx="8229240" cy="15573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888888"/>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2743200" y="4788720"/>
            <a:ext cx="31089240" cy="1018656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 name="Google Shape;7;p2"/>
          <p:cNvSpPr txBox="1"/>
          <p:nvPr>
            <p:ph idx="10" type="dt"/>
          </p:nvPr>
        </p:nvSpPr>
        <p:spPr>
          <a:xfrm>
            <a:off x="2514600" y="27120600"/>
            <a:ext cx="8229240" cy="155736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888888"/>
              </a:buClr>
              <a:buSzPts val="4800"/>
              <a:buFont typeface="Calibri"/>
              <a:buNone/>
              <a:defRPr b="0" i="0" sz="48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p2"/>
          <p:cNvSpPr txBox="1"/>
          <p:nvPr>
            <p:ph idx="11" type="ftr"/>
          </p:nvPr>
        </p:nvSpPr>
        <p:spPr>
          <a:xfrm>
            <a:off x="12115800" y="27120600"/>
            <a:ext cx="12344040" cy="1557360"/>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9" name="Google Shape;9;p2"/>
          <p:cNvSpPr txBox="1"/>
          <p:nvPr>
            <p:ph idx="12" type="sldNum"/>
          </p:nvPr>
        </p:nvSpPr>
        <p:spPr>
          <a:xfrm>
            <a:off x="25831800" y="27120600"/>
            <a:ext cx="8229240" cy="155736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buClr>
                <a:srgbClr val="888888"/>
              </a:buClr>
              <a:buSzPts val="4800"/>
              <a:buFont typeface="Calibri"/>
              <a:buNone/>
              <a:defRPr b="0" i="0" sz="4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solidFill>
                <a:srgbClr val="000000"/>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emanual.robotis.com/docs/en/platform/turtlebot3/quick-start/" TargetMode="External"/><Relationship Id="rId4" Type="http://schemas.openxmlformats.org/officeDocument/2006/relationships/hyperlink" Target="https://articulatedrobotics.xyz/category/getting-ready-to-build-a-ros-robot" TargetMode="External"/><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png"/><Relationship Id="rId8"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 name="Shape 19"/>
        <p:cNvGrpSpPr/>
        <p:nvPr/>
      </p:nvGrpSpPr>
      <p:grpSpPr>
        <a:xfrm>
          <a:off x="0" y="0"/>
          <a:ext cx="0" cy="0"/>
          <a:chOff x="0" y="0"/>
          <a:chExt cx="0" cy="0"/>
        </a:xfrm>
      </p:grpSpPr>
      <p:sp>
        <p:nvSpPr>
          <p:cNvPr id="20" name="Google Shape;20;p1"/>
          <p:cNvSpPr txBox="1"/>
          <p:nvPr>
            <p:ph type="title"/>
          </p:nvPr>
        </p:nvSpPr>
        <p:spPr>
          <a:xfrm>
            <a:off x="0" y="455760"/>
            <a:ext cx="36575640" cy="1954440"/>
          </a:xfrm>
          <a:prstGeom prst="rect">
            <a:avLst/>
          </a:prstGeom>
          <a:no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1"/>
              </a:buClr>
              <a:buSzPts val="990"/>
              <a:buFont typeface="Arial"/>
              <a:buNone/>
            </a:pPr>
            <a:r>
              <a:rPr b="1" lang="en-US" sz="7200">
                <a:solidFill>
                  <a:schemeClr val="dk1"/>
                </a:solidFill>
                <a:latin typeface="Gill Sans"/>
                <a:ea typeface="Gill Sans"/>
                <a:cs typeface="Gill Sans"/>
                <a:sym typeface="Gill Sans"/>
              </a:rPr>
              <a:t>A Comparative Study of SLAM Algorithms</a:t>
            </a:r>
            <a:endParaRPr b="1" sz="7200">
              <a:solidFill>
                <a:schemeClr val="dk1"/>
              </a:solidFill>
              <a:latin typeface="Gill Sans"/>
              <a:ea typeface="Gill Sans"/>
              <a:cs typeface="Gill Sans"/>
              <a:sym typeface="Gill Sans"/>
            </a:endParaRPr>
          </a:p>
          <a:p>
            <a:pPr indent="0" lvl="0" marL="0" rtl="0" algn="ctr">
              <a:lnSpc>
                <a:spcPct val="90000"/>
              </a:lnSpc>
              <a:spcBef>
                <a:spcPts val="0"/>
              </a:spcBef>
              <a:spcAft>
                <a:spcPts val="0"/>
              </a:spcAft>
              <a:buClr>
                <a:schemeClr val="dk1"/>
              </a:buClr>
              <a:buSzPts val="990"/>
              <a:buFont typeface="Arial"/>
              <a:buNone/>
            </a:pPr>
            <a:r>
              <a:rPr b="1" lang="en-US" sz="7200">
                <a:solidFill>
                  <a:schemeClr val="dk1"/>
                </a:solidFill>
                <a:latin typeface="Gill Sans"/>
                <a:ea typeface="Gill Sans"/>
                <a:cs typeface="Gill Sans"/>
                <a:sym typeface="Gill Sans"/>
              </a:rPr>
              <a:t> for Robot Operating System</a:t>
            </a:r>
            <a:endParaRPr b="1" sz="7200">
              <a:solidFill>
                <a:schemeClr val="dk1"/>
              </a:solidFill>
              <a:latin typeface="Gill Sans"/>
              <a:ea typeface="Gill Sans"/>
              <a:cs typeface="Gill Sans"/>
              <a:sym typeface="Gill Sans"/>
            </a:endParaRPr>
          </a:p>
        </p:txBody>
      </p:sp>
      <p:sp>
        <p:nvSpPr>
          <p:cNvPr id="21" name="Google Shape;21;p1"/>
          <p:cNvSpPr/>
          <p:nvPr/>
        </p:nvSpPr>
        <p:spPr>
          <a:xfrm>
            <a:off x="652320" y="5552640"/>
            <a:ext cx="11742000" cy="10013400"/>
          </a:xfrm>
          <a:prstGeom prst="rect">
            <a:avLst/>
          </a:prstGeom>
          <a:noFill/>
          <a:ln cap="flat" cmpd="sng" w="203200">
            <a:solidFill>
              <a:srgbClr val="595959"/>
            </a:solidFill>
            <a:prstDash val="solid"/>
            <a:round/>
            <a:headEnd len="sm" w="sm" type="none"/>
            <a:tailEnd len="sm" w="sm" type="none"/>
          </a:ln>
        </p:spPr>
        <p:txBody>
          <a:bodyPr anchorCtr="0" anchor="t" bIns="182875" lIns="90000" spcFirstLastPara="1" rIns="274300" wrap="square" tIns="45000">
            <a:spAutoFit/>
          </a:bodyPr>
          <a:lstStyle/>
          <a:p>
            <a:pPr indent="0" lvl="0" marL="0" marR="0" rtl="0" algn="ctr">
              <a:lnSpc>
                <a:spcPct val="150000"/>
              </a:lnSpc>
              <a:spcBef>
                <a:spcPts val="0"/>
              </a:spcBef>
              <a:spcAft>
                <a:spcPts val="0"/>
              </a:spcAft>
              <a:buNone/>
            </a:pPr>
            <a:r>
              <a:rPr b="1" i="0" lang="en-US" sz="4400" u="none" cap="none" strike="noStrike">
                <a:solidFill>
                  <a:schemeClr val="dk1"/>
                </a:solidFill>
                <a:latin typeface="Calibri"/>
                <a:ea typeface="Calibri"/>
                <a:cs typeface="Calibri"/>
                <a:sym typeface="Calibri"/>
              </a:rPr>
              <a:t>MOTIVATION</a:t>
            </a:r>
            <a:endParaRPr b="0" i="0" sz="4400" u="none" cap="none" strike="noStrike">
              <a:solidFill>
                <a:srgbClr val="000000"/>
              </a:solidFill>
              <a:latin typeface="Arial"/>
              <a:ea typeface="Arial"/>
              <a:cs typeface="Arial"/>
              <a:sym typeface="Arial"/>
            </a:endParaRPr>
          </a:p>
          <a:p>
            <a:pPr indent="0" lvl="0" marL="914400" marR="0" rtl="0" algn="l">
              <a:lnSpc>
                <a:spcPct val="100000"/>
              </a:lnSpc>
              <a:spcBef>
                <a:spcPts val="0"/>
              </a:spcBef>
              <a:spcAft>
                <a:spcPts val="0"/>
              </a:spcAft>
              <a:buNone/>
            </a:pPr>
            <a:r>
              <a:t/>
            </a:r>
            <a:endParaRPr sz="3200">
              <a:solidFill>
                <a:schemeClr val="dk1"/>
              </a:solidFill>
              <a:latin typeface="Times New Roman"/>
              <a:ea typeface="Times New Roman"/>
              <a:cs typeface="Times New Roman"/>
              <a:sym typeface="Times New Roman"/>
            </a:endParaRPr>
          </a:p>
          <a:p>
            <a:pPr indent="0" lvl="0" marL="914400" marR="0" rtl="0" algn="l">
              <a:lnSpc>
                <a:spcPct val="100000"/>
              </a:lnSpc>
              <a:spcBef>
                <a:spcPts val="0"/>
              </a:spcBef>
              <a:spcAft>
                <a:spcPts val="0"/>
              </a:spcAft>
              <a:buNone/>
            </a:pPr>
            <a:r>
              <a:t/>
            </a:r>
            <a:endParaRPr sz="3200">
              <a:solidFill>
                <a:schemeClr val="dk1"/>
              </a:solidFill>
              <a:latin typeface="Times New Roman"/>
              <a:ea typeface="Times New Roman"/>
              <a:cs typeface="Times New Roman"/>
              <a:sym typeface="Times New Roman"/>
            </a:endParaRPr>
          </a:p>
          <a:p>
            <a:pPr indent="0" lvl="0" marL="914400" marR="0" rtl="0" algn="l">
              <a:lnSpc>
                <a:spcPct val="100000"/>
              </a:lnSpc>
              <a:spcBef>
                <a:spcPts val="0"/>
              </a:spcBef>
              <a:spcAft>
                <a:spcPts val="0"/>
              </a:spcAft>
              <a:buNone/>
            </a:pPr>
            <a:r>
              <a:t/>
            </a:r>
            <a:endParaRPr sz="3200">
              <a:solidFill>
                <a:schemeClr val="dk1"/>
              </a:solidFill>
              <a:latin typeface="Times New Roman"/>
              <a:ea typeface="Times New Roman"/>
              <a:cs typeface="Times New Roman"/>
              <a:sym typeface="Times New Roman"/>
            </a:endParaRPr>
          </a:p>
          <a:p>
            <a:pPr indent="0" lvl="0" marL="914400" marR="0" rtl="0" algn="l">
              <a:lnSpc>
                <a:spcPct val="100000"/>
              </a:lnSpc>
              <a:spcBef>
                <a:spcPts val="0"/>
              </a:spcBef>
              <a:spcAft>
                <a:spcPts val="0"/>
              </a:spcAft>
              <a:buNone/>
            </a:pPr>
            <a:r>
              <a:t/>
            </a:r>
            <a:endParaRPr sz="3200">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sz="1900">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sz="1900">
              <a:solidFill>
                <a:schemeClr val="dk1"/>
              </a:solidFill>
              <a:latin typeface="Times New Roman"/>
              <a:ea typeface="Times New Roman"/>
              <a:cs typeface="Times New Roman"/>
              <a:sym typeface="Times New Roman"/>
            </a:endParaRPr>
          </a:p>
          <a:p>
            <a:pPr indent="-349250" lvl="1" marL="914400" rtl="0" algn="l">
              <a:lnSpc>
                <a:spcPct val="100000"/>
              </a:lnSpc>
              <a:spcBef>
                <a:spcPts val="0"/>
              </a:spcBef>
              <a:spcAft>
                <a:spcPts val="0"/>
              </a:spcAft>
              <a:buSzPts val="1900"/>
              <a:buFont typeface="Noto Sans Symbols"/>
              <a:buChar char="❑"/>
            </a:pPr>
            <a:r>
              <a:rPr lang="en-US" sz="1900">
                <a:solidFill>
                  <a:schemeClr val="dk1"/>
                </a:solidFill>
              </a:rPr>
              <a:t>TurtleBot3 with ROS2 provides an ideal testbed for evaluating SLAM algorithm accuracy and reliability in real-world robotics.</a:t>
            </a:r>
            <a:endParaRPr sz="1900">
              <a:solidFill>
                <a:schemeClr val="dk1"/>
              </a:solidFill>
            </a:endParaRPr>
          </a:p>
          <a:p>
            <a:pPr indent="0" lvl="0" marL="914400" rtl="0" algn="l">
              <a:lnSpc>
                <a:spcPct val="100000"/>
              </a:lnSpc>
              <a:spcBef>
                <a:spcPts val="0"/>
              </a:spcBef>
              <a:spcAft>
                <a:spcPts val="0"/>
              </a:spcAft>
              <a:buNone/>
            </a:pPr>
            <a:r>
              <a:t/>
            </a:r>
            <a:endParaRPr sz="1900">
              <a:solidFill>
                <a:schemeClr val="dk1"/>
              </a:solidFill>
            </a:endParaRPr>
          </a:p>
          <a:p>
            <a:pPr indent="-374650" lvl="1" marL="914400" marR="0" rtl="0" algn="l">
              <a:lnSpc>
                <a:spcPct val="100000"/>
              </a:lnSpc>
              <a:spcBef>
                <a:spcPts val="0"/>
              </a:spcBef>
              <a:spcAft>
                <a:spcPts val="0"/>
              </a:spcAft>
              <a:buClr>
                <a:schemeClr val="dk1"/>
              </a:buClr>
              <a:buSzPts val="1900"/>
              <a:buFont typeface="Noto Sans Symbols"/>
              <a:buChar char="❑"/>
            </a:pPr>
            <a:r>
              <a:rPr lang="en-US" sz="1900">
                <a:solidFill>
                  <a:schemeClr val="dk1"/>
                </a:solidFill>
              </a:rPr>
              <a:t>SLAM Toolbox and Cartographer often produce maps of different geometric quality under identical conditions, affecting localization and navigation.</a:t>
            </a:r>
            <a:endParaRPr sz="1900">
              <a:solidFill>
                <a:schemeClr val="dk1"/>
              </a:solidFill>
            </a:endParaRPr>
          </a:p>
          <a:p>
            <a:pPr indent="0" lvl="0" marL="914400" marR="0" rtl="0" algn="l">
              <a:lnSpc>
                <a:spcPct val="100000"/>
              </a:lnSpc>
              <a:spcBef>
                <a:spcPts val="0"/>
              </a:spcBef>
              <a:spcAft>
                <a:spcPts val="0"/>
              </a:spcAft>
              <a:buNone/>
            </a:pPr>
            <a:r>
              <a:t/>
            </a:r>
            <a:endParaRPr sz="1900">
              <a:solidFill>
                <a:schemeClr val="dk1"/>
              </a:solidFill>
            </a:endParaRPr>
          </a:p>
          <a:p>
            <a:pPr indent="-349250" lvl="1" marL="914400" rtl="0" algn="l">
              <a:lnSpc>
                <a:spcPct val="100000"/>
              </a:lnSpc>
              <a:spcBef>
                <a:spcPts val="0"/>
              </a:spcBef>
              <a:spcAft>
                <a:spcPts val="0"/>
              </a:spcAft>
              <a:buClr>
                <a:schemeClr val="dk1"/>
              </a:buClr>
              <a:buSzPts val="1900"/>
              <a:buChar char="❑"/>
            </a:pPr>
            <a:r>
              <a:rPr lang="en-US" sz="1900">
                <a:solidFill>
                  <a:schemeClr val="dk1"/>
                </a:solidFill>
              </a:rPr>
              <a:t>Improving SLAM precision supports advanced applications such as autonomous exploration and loop-closure correction in dynamic environments.</a:t>
            </a:r>
            <a:endParaRPr sz="1900">
              <a:solidFill>
                <a:schemeClr val="dk1"/>
              </a:solidFill>
            </a:endParaRPr>
          </a:p>
          <a:p>
            <a:pPr indent="0" lvl="0" marL="0" marR="0" rtl="0" algn="l">
              <a:lnSpc>
                <a:spcPct val="100000"/>
              </a:lnSpc>
              <a:spcBef>
                <a:spcPts val="0"/>
              </a:spcBef>
              <a:spcAft>
                <a:spcPts val="0"/>
              </a:spcAft>
              <a:buNone/>
            </a:pPr>
            <a:r>
              <a:t/>
            </a:r>
            <a:endParaRPr b="1" sz="1500">
              <a:solidFill>
                <a:schemeClr val="dk1"/>
              </a:solidFill>
            </a:endParaRPr>
          </a:p>
          <a:p>
            <a:pPr indent="0" lvl="0" marL="0" marR="0" rtl="0" algn="ctr">
              <a:lnSpc>
                <a:spcPct val="100000"/>
              </a:lnSpc>
              <a:spcBef>
                <a:spcPts val="0"/>
              </a:spcBef>
              <a:spcAft>
                <a:spcPts val="0"/>
              </a:spcAft>
              <a:buNone/>
            </a:pPr>
            <a:r>
              <a:rPr b="1" lang="en-US" sz="1500">
                <a:solidFill>
                  <a:schemeClr val="dk1"/>
                </a:solidFill>
              </a:rPr>
              <a:t>Model of the </a:t>
            </a:r>
            <a:r>
              <a:rPr b="1" lang="en-US" sz="1500">
                <a:solidFill>
                  <a:schemeClr val="dk1"/>
                </a:solidFill>
              </a:rPr>
              <a:t>Turtlebot 3</a:t>
            </a:r>
            <a:r>
              <a:rPr b="1" lang="en-US" sz="1500">
                <a:solidFill>
                  <a:schemeClr val="dk1"/>
                </a:solidFill>
              </a:rPr>
              <a:t> test Environment</a:t>
            </a:r>
            <a:endParaRPr b="1" sz="1500">
              <a:solidFill>
                <a:schemeClr val="dk1"/>
              </a:solidFill>
            </a:endParaRPr>
          </a:p>
          <a:p>
            <a:pPr indent="0" lvl="0" marL="914400" marR="0" rtl="0" algn="l">
              <a:lnSpc>
                <a:spcPct val="100000"/>
              </a:lnSpc>
              <a:spcBef>
                <a:spcPts val="0"/>
              </a:spcBef>
              <a:spcAft>
                <a:spcPts val="0"/>
              </a:spcAft>
              <a:buNone/>
            </a:pPr>
            <a:r>
              <a:t/>
            </a:r>
            <a:endParaRPr sz="1800">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p:txBody>
      </p:sp>
      <p:sp>
        <p:nvSpPr>
          <p:cNvPr id="22" name="Google Shape;22;p1"/>
          <p:cNvSpPr/>
          <p:nvPr/>
        </p:nvSpPr>
        <p:spPr>
          <a:xfrm>
            <a:off x="8167320" y="2588400"/>
            <a:ext cx="20349000" cy="2192760"/>
          </a:xfrm>
          <a:prstGeom prst="rect">
            <a:avLst/>
          </a:prstGeom>
          <a:noFill/>
          <a:ln>
            <a:noFill/>
          </a:ln>
        </p:spPr>
        <p:txBody>
          <a:bodyPr anchorCtr="0" anchor="t" bIns="45000" lIns="90000" spcFirstLastPara="1" rIns="90000" wrap="square" tIns="45000">
            <a:spAutoFit/>
          </a:bodyPr>
          <a:lstStyle/>
          <a:p>
            <a:pPr indent="0" lvl="0" marL="0" marR="0" rtl="0" algn="ctr">
              <a:lnSpc>
                <a:spcPct val="100000"/>
              </a:lnSpc>
              <a:spcBef>
                <a:spcPts val="0"/>
              </a:spcBef>
              <a:spcAft>
                <a:spcPts val="0"/>
              </a:spcAft>
              <a:buNone/>
            </a:pPr>
            <a:r>
              <a:rPr b="1" i="0" lang="en-US" sz="4800" u="none" cap="none" strike="noStrike">
                <a:solidFill>
                  <a:schemeClr val="dk1"/>
                </a:solidFill>
                <a:latin typeface="Times New Roman"/>
                <a:ea typeface="Times New Roman"/>
                <a:cs typeface="Times New Roman"/>
                <a:sym typeface="Times New Roman"/>
              </a:rPr>
              <a:t>Stenneth Swaby</a:t>
            </a:r>
            <a:endParaRPr b="0" i="0" sz="48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1" i="0" lang="en-US" sz="4000" u="none" cap="none" strike="noStrike">
                <a:solidFill>
                  <a:schemeClr val="dk1"/>
                </a:solidFill>
                <a:latin typeface="Times New Roman"/>
                <a:ea typeface="Times New Roman"/>
                <a:cs typeface="Times New Roman"/>
                <a:sym typeface="Times New Roman"/>
              </a:rPr>
              <a:t>Department of Computer Science, The College of New Jersey</a:t>
            </a:r>
            <a:endParaRPr b="0" i="0" sz="40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1" i="0" lang="en-US" sz="4000" u="none" cap="none" strike="noStrike">
                <a:solidFill>
                  <a:schemeClr val="dk1"/>
                </a:solidFill>
                <a:latin typeface="Times New Roman"/>
                <a:ea typeface="Times New Roman"/>
                <a:cs typeface="Times New Roman"/>
                <a:sym typeface="Times New Roman"/>
              </a:rPr>
              <a:t>Mentor: Dr. Sejong Yoon</a:t>
            </a:r>
            <a:endParaRPr b="0" i="0" sz="4000" u="none" cap="none" strike="noStrike">
              <a:solidFill>
                <a:srgbClr val="000000"/>
              </a:solidFill>
              <a:latin typeface="Arial"/>
              <a:ea typeface="Arial"/>
              <a:cs typeface="Arial"/>
              <a:sym typeface="Arial"/>
            </a:endParaRPr>
          </a:p>
        </p:txBody>
      </p:sp>
      <p:sp>
        <p:nvSpPr>
          <p:cNvPr id="23" name="Google Shape;23;p1"/>
          <p:cNvSpPr/>
          <p:nvPr/>
        </p:nvSpPr>
        <p:spPr>
          <a:xfrm>
            <a:off x="24409813" y="5565965"/>
            <a:ext cx="11513400" cy="11445600"/>
          </a:xfrm>
          <a:prstGeom prst="rect">
            <a:avLst/>
          </a:prstGeom>
          <a:noFill/>
          <a:ln cap="flat" cmpd="sng" w="203200">
            <a:solidFill>
              <a:srgbClr val="595959"/>
            </a:solidFill>
            <a:prstDash val="solid"/>
            <a:round/>
            <a:headEnd len="sm" w="sm" type="none"/>
            <a:tailEnd len="sm" w="sm" type="none"/>
          </a:ln>
        </p:spPr>
        <p:txBody>
          <a:bodyPr anchorCtr="0" anchor="t" bIns="182875" lIns="90000" spcFirstLastPara="1" rIns="90000" wrap="square" tIns="45000">
            <a:spAutoFit/>
          </a:bodyPr>
          <a:lstStyle/>
          <a:p>
            <a:pPr indent="0" lvl="0" marL="0" marR="0" rtl="0" algn="ctr">
              <a:lnSpc>
                <a:spcPct val="150000"/>
              </a:lnSpc>
              <a:spcBef>
                <a:spcPts val="0"/>
              </a:spcBef>
              <a:spcAft>
                <a:spcPts val="0"/>
              </a:spcAft>
              <a:buNone/>
            </a:pPr>
            <a:r>
              <a:rPr b="1" i="0" lang="en-US" sz="4400" u="none" cap="none" strike="noStrike">
                <a:solidFill>
                  <a:schemeClr val="dk1"/>
                </a:solidFill>
              </a:rPr>
              <a:t>RESULTS</a:t>
            </a:r>
            <a:endParaRPr i="0" sz="4400" u="none" cap="none" strike="noStrike">
              <a:solidFill>
                <a:srgbClr val="000000"/>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91440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ctr">
              <a:lnSpc>
                <a:spcPct val="100000"/>
              </a:lnSpc>
              <a:spcBef>
                <a:spcPts val="0"/>
              </a:spcBef>
              <a:spcAft>
                <a:spcPts val="0"/>
              </a:spcAft>
              <a:buNone/>
            </a:pPr>
            <a:r>
              <a:t/>
            </a:r>
            <a:endParaRPr sz="1600">
              <a:solidFill>
                <a:schemeClr val="dk1"/>
              </a:solidFill>
            </a:endParaRPr>
          </a:p>
          <a:p>
            <a:pPr indent="0" lvl="0" marL="0" rtl="0" algn="l">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349250" lvl="0" marL="1200150" marR="0" rtl="0" algn="l">
              <a:lnSpc>
                <a:spcPct val="100000"/>
              </a:lnSpc>
              <a:spcBef>
                <a:spcPts val="0"/>
              </a:spcBef>
              <a:spcAft>
                <a:spcPts val="0"/>
              </a:spcAft>
              <a:buClr>
                <a:srgbClr val="000000"/>
              </a:buClr>
              <a:buSzPts val="1900"/>
              <a:buChar char="❏"/>
            </a:pPr>
            <a:r>
              <a:rPr lang="en-US" sz="1900"/>
              <a:t>SLAM Toolbox(the image on the right) produced sharper walls and more accurate alignment with ground-truth maze dimensions.</a:t>
            </a:r>
            <a:endParaRPr sz="1900"/>
          </a:p>
          <a:p>
            <a:pPr indent="-349250" lvl="0" marL="1200150" marR="0" rtl="0" algn="l">
              <a:lnSpc>
                <a:spcPct val="100000"/>
              </a:lnSpc>
              <a:spcBef>
                <a:spcPts val="0"/>
              </a:spcBef>
              <a:spcAft>
                <a:spcPts val="0"/>
              </a:spcAft>
              <a:buClr>
                <a:srgbClr val="000000"/>
              </a:buClr>
              <a:buSzPts val="1900"/>
              <a:buChar char="❏"/>
            </a:pPr>
            <a:r>
              <a:rPr lang="en-US" sz="1900"/>
              <a:t>Cartographer (the image on the left) generated smoother global maps but exhibited higher boundary deviation.</a:t>
            </a:r>
            <a:endParaRPr sz="1900"/>
          </a:p>
          <a:p>
            <a:pPr indent="-349250" lvl="0" marL="1200150" marR="0" rtl="0" algn="l">
              <a:lnSpc>
                <a:spcPct val="100000"/>
              </a:lnSpc>
              <a:spcBef>
                <a:spcPts val="0"/>
              </a:spcBef>
              <a:spcAft>
                <a:spcPts val="0"/>
              </a:spcAft>
              <a:buClr>
                <a:srgbClr val="000000"/>
              </a:buClr>
              <a:buSzPts val="1900"/>
              <a:buChar char="❏"/>
            </a:pPr>
            <a:r>
              <a:rPr lang="en-US" sz="1900"/>
              <a:t>Quantitative analysis showed SLAM Toolbox achieved lower average map error, confirming higher geometric precision.</a:t>
            </a:r>
            <a:endParaRPr sz="1900"/>
          </a:p>
          <a:p>
            <a:pPr indent="-349250" lvl="0" marL="1200150" marR="0" rtl="0" algn="l">
              <a:lnSpc>
                <a:spcPct val="100000"/>
              </a:lnSpc>
              <a:spcBef>
                <a:spcPts val="0"/>
              </a:spcBef>
              <a:spcAft>
                <a:spcPts val="0"/>
              </a:spcAft>
              <a:buClr>
                <a:srgbClr val="000000"/>
              </a:buClr>
              <a:buSzPts val="1900"/>
              <a:buChar char="❏"/>
            </a:pPr>
            <a:r>
              <a:rPr lang="en-US" sz="1900"/>
              <a:t>Results indicate that algorithm design trade-offs affect local vs. global consistency in mapping.</a:t>
            </a:r>
            <a:endParaRPr sz="1900"/>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45720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3800" u="none" cap="none" strike="noStrike">
              <a:solidFill>
                <a:srgbClr val="000000"/>
              </a:solidFill>
            </a:endParaRPr>
          </a:p>
          <a:p>
            <a:pPr indent="0" lvl="0" marL="0" marR="0" rtl="0" algn="l">
              <a:lnSpc>
                <a:spcPct val="100000"/>
              </a:lnSpc>
              <a:spcBef>
                <a:spcPts val="0"/>
              </a:spcBef>
              <a:spcAft>
                <a:spcPts val="0"/>
              </a:spcAft>
              <a:buNone/>
            </a:pPr>
            <a:r>
              <a:t/>
            </a:r>
            <a:endParaRPr i="0" sz="2000" u="none" cap="none" strike="noStrike">
              <a:solidFill>
                <a:srgbClr val="000000"/>
              </a:solidFill>
            </a:endParaRPr>
          </a:p>
          <a:p>
            <a:pPr indent="0" lvl="0" marL="0" marR="0" rtl="0" algn="l">
              <a:lnSpc>
                <a:spcPct val="100000"/>
              </a:lnSpc>
              <a:spcBef>
                <a:spcPts val="0"/>
              </a:spcBef>
              <a:spcAft>
                <a:spcPts val="0"/>
              </a:spcAft>
              <a:buNone/>
            </a:pPr>
            <a:r>
              <a:t/>
            </a:r>
            <a:endParaRPr i="0" sz="1000" u="none" cap="none" strike="noStrike">
              <a:solidFill>
                <a:srgbClr val="000000"/>
              </a:solidFill>
            </a:endParaRPr>
          </a:p>
          <a:p>
            <a:pPr indent="0" lvl="0" marL="0" marR="0" rtl="0" algn="l">
              <a:lnSpc>
                <a:spcPct val="100000"/>
              </a:lnSpc>
              <a:spcBef>
                <a:spcPts val="0"/>
              </a:spcBef>
              <a:spcAft>
                <a:spcPts val="0"/>
              </a:spcAft>
              <a:buNone/>
            </a:pPr>
            <a:r>
              <a:t/>
            </a:r>
            <a:endParaRPr i="0" sz="800" u="none" cap="none" strike="noStrike">
              <a:solidFill>
                <a:srgbClr val="000000"/>
              </a:solidFill>
            </a:endParaRPr>
          </a:p>
          <a:p>
            <a:pPr indent="0" lvl="0" marL="0" marR="0" rtl="0" algn="l">
              <a:lnSpc>
                <a:spcPct val="100000"/>
              </a:lnSpc>
              <a:spcBef>
                <a:spcPts val="0"/>
              </a:spcBef>
              <a:spcAft>
                <a:spcPts val="0"/>
              </a:spcAft>
              <a:buNone/>
            </a:pPr>
            <a:r>
              <a:t/>
            </a:r>
            <a:endParaRPr i="0" sz="800" u="none" cap="none" strike="noStrike">
              <a:solidFill>
                <a:srgbClr val="000000"/>
              </a:solidFill>
            </a:endParaRPr>
          </a:p>
          <a:p>
            <a:pPr indent="0" lvl="0" marL="0" marR="0" rtl="0" algn="l">
              <a:lnSpc>
                <a:spcPct val="100000"/>
              </a:lnSpc>
              <a:spcBef>
                <a:spcPts val="0"/>
              </a:spcBef>
              <a:spcAft>
                <a:spcPts val="0"/>
              </a:spcAft>
              <a:buNone/>
            </a:pPr>
            <a:r>
              <a:t/>
            </a:r>
            <a:endParaRPr i="0" sz="800" u="none" cap="none" strike="noStrike">
              <a:solidFill>
                <a:srgbClr val="000000"/>
              </a:solidFill>
            </a:endParaRPr>
          </a:p>
        </p:txBody>
      </p:sp>
      <p:sp>
        <p:nvSpPr>
          <p:cNvPr id="24" name="Google Shape;24;p1"/>
          <p:cNvSpPr/>
          <p:nvPr/>
        </p:nvSpPr>
        <p:spPr>
          <a:xfrm>
            <a:off x="12745080" y="5552640"/>
            <a:ext cx="11310840" cy="22787640"/>
          </a:xfrm>
          <a:prstGeom prst="rect">
            <a:avLst/>
          </a:prstGeom>
          <a:noFill/>
          <a:ln cap="flat" cmpd="sng" w="203200">
            <a:solidFill>
              <a:srgbClr val="595959"/>
            </a:solidFill>
            <a:prstDash val="solid"/>
            <a:round/>
            <a:headEnd len="sm" w="sm" type="none"/>
            <a:tailEnd len="sm" w="sm" type="none"/>
          </a:ln>
        </p:spPr>
        <p:txBody>
          <a:bodyPr anchorCtr="0" anchor="t" bIns="274300" lIns="90000" spcFirstLastPara="1" rIns="274300" wrap="square" tIns="45000">
            <a:spAutoFit/>
          </a:bodyPr>
          <a:lstStyle/>
          <a:p>
            <a:pPr indent="0" lvl="0" marL="0" marR="0" rtl="0" algn="ctr">
              <a:lnSpc>
                <a:spcPct val="150000"/>
              </a:lnSpc>
              <a:spcBef>
                <a:spcPts val="0"/>
              </a:spcBef>
              <a:spcAft>
                <a:spcPts val="0"/>
              </a:spcAft>
              <a:buNone/>
            </a:pPr>
            <a:r>
              <a:rPr b="1" i="0" lang="en-US" sz="4400" u="none" cap="none" strike="noStrike">
                <a:solidFill>
                  <a:schemeClr val="dk1"/>
                </a:solidFill>
                <a:latin typeface="Calibri"/>
                <a:ea typeface="Calibri"/>
                <a:cs typeface="Calibri"/>
                <a:sym typeface="Calibri"/>
              </a:rPr>
              <a:t>METHODOLOGY</a:t>
            </a:r>
            <a:endParaRPr b="0" i="0" sz="4400" u="none" cap="none" strike="noStrike">
              <a:solidFill>
                <a:srgbClr val="000000"/>
              </a:solidFill>
              <a:latin typeface="Arial"/>
              <a:ea typeface="Arial"/>
              <a:cs typeface="Arial"/>
              <a:sym typeface="Arial"/>
            </a:endParaRPr>
          </a:p>
          <a:p>
            <a:pPr indent="-349250" lvl="0" marL="914400" marR="0" rtl="0" algn="l">
              <a:lnSpc>
                <a:spcPct val="100000"/>
              </a:lnSpc>
              <a:spcBef>
                <a:spcPts val="0"/>
              </a:spcBef>
              <a:spcAft>
                <a:spcPts val="0"/>
              </a:spcAft>
              <a:buSzPts val="1900"/>
              <a:buChar char="❏"/>
            </a:pPr>
            <a:r>
              <a:rPr lang="en-US" sz="1900"/>
              <a:t>Objective: Evaluate the mapping accuracy of Cartographer and SLAM Toolbox by generating and comparing maps under identical conditions.</a:t>
            </a:r>
            <a:endParaRPr sz="1900"/>
          </a:p>
          <a:p>
            <a:pPr indent="-349250" lvl="0" marL="914400" marR="0" rtl="0" algn="l">
              <a:lnSpc>
                <a:spcPct val="100000"/>
              </a:lnSpc>
              <a:spcBef>
                <a:spcPts val="0"/>
              </a:spcBef>
              <a:spcAft>
                <a:spcPts val="0"/>
              </a:spcAft>
              <a:buSzPts val="1900"/>
              <a:buChar char="❏"/>
            </a:pPr>
            <a:r>
              <a:rPr lang="en-US" sz="1900"/>
              <a:t>Both algorithms were launched using the default packages and nodes from the ROBOTIS e-Manual (cartographer_bringup, slam_toolbox_bringup).</a:t>
            </a:r>
            <a:endParaRPr sz="1900"/>
          </a:p>
          <a:p>
            <a:pPr indent="-349250" lvl="0" marL="914400" marR="0" rtl="0" algn="l">
              <a:lnSpc>
                <a:spcPct val="100000"/>
              </a:lnSpc>
              <a:spcBef>
                <a:spcPts val="0"/>
              </a:spcBef>
              <a:spcAft>
                <a:spcPts val="0"/>
              </a:spcAft>
              <a:buSzPts val="1900"/>
              <a:buChar char="❏"/>
            </a:pPr>
            <a:r>
              <a:rPr lang="en-US" sz="1900"/>
              <a:t>Tests were performed in the same maze environment to ensure repeatability and eliminate environmental bias.</a:t>
            </a:r>
            <a:endParaRPr sz="1900"/>
          </a:p>
          <a:p>
            <a:pPr indent="-349250" lvl="0" marL="914400" marR="0" rtl="0" algn="l">
              <a:lnSpc>
                <a:spcPct val="100000"/>
              </a:lnSpc>
              <a:spcBef>
                <a:spcPts val="0"/>
              </a:spcBef>
              <a:spcAft>
                <a:spcPts val="0"/>
              </a:spcAft>
              <a:buSzPts val="1900"/>
              <a:buChar char="❏"/>
            </a:pPr>
            <a:r>
              <a:rPr lang="en-US" sz="1900"/>
              <a:t>nav2_map_server package to ensure uniform output quality.</a:t>
            </a:r>
            <a:endParaRPr sz="1900"/>
          </a:p>
          <a:p>
            <a:pPr indent="-349250" lvl="0" marL="914400" marR="0" rtl="0" algn="l">
              <a:lnSpc>
                <a:spcPct val="100000"/>
              </a:lnSpc>
              <a:spcBef>
                <a:spcPts val="0"/>
              </a:spcBef>
              <a:spcAft>
                <a:spcPts val="0"/>
              </a:spcAft>
              <a:buSzPts val="1900"/>
              <a:buChar char="❏"/>
            </a:pPr>
            <a:r>
              <a:rPr lang="en-US" sz="1900"/>
              <a:t>Cartographer Map:</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349250" lvl="0" marL="914400" marR="0" rtl="0" algn="l">
              <a:lnSpc>
                <a:spcPct val="100000"/>
              </a:lnSpc>
              <a:spcBef>
                <a:spcPts val="0"/>
              </a:spcBef>
              <a:spcAft>
                <a:spcPts val="0"/>
              </a:spcAft>
              <a:buSzPts val="1900"/>
              <a:buChar char="❏"/>
            </a:pPr>
            <a:r>
              <a:rPr lang="en-US" sz="1900"/>
              <a:t>SLAM Toolbox Map:</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349250" lvl="0" marL="914400" marR="0" rtl="0" algn="l">
              <a:lnSpc>
                <a:spcPct val="100000"/>
              </a:lnSpc>
              <a:spcBef>
                <a:spcPts val="0"/>
              </a:spcBef>
              <a:spcAft>
                <a:spcPts val="0"/>
              </a:spcAft>
              <a:buSzPts val="1900"/>
              <a:buChar char="❏"/>
            </a:pPr>
            <a:r>
              <a:rPr lang="en-US" sz="1900"/>
              <a:t>All saved maps were resized to a fixed pixel dimension to maintain consistent scaling.</a:t>
            </a:r>
            <a:endParaRPr sz="1900"/>
          </a:p>
          <a:p>
            <a:pPr indent="-349250" lvl="0" marL="914400" marR="0" rtl="0" algn="l">
              <a:lnSpc>
                <a:spcPct val="100000"/>
              </a:lnSpc>
              <a:spcBef>
                <a:spcPts val="0"/>
              </a:spcBef>
              <a:spcAft>
                <a:spcPts val="0"/>
              </a:spcAft>
              <a:buSzPts val="1900"/>
              <a:buChar char="❏"/>
            </a:pPr>
            <a:r>
              <a:rPr lang="en-US" sz="1900"/>
              <a:t>A Python script was developed to overlay maps and visually align them for direct comparison.</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rPr lang="en-US" sz="1900"/>
              <a:t>+----</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t/>
            </a:r>
            <a:endParaRPr sz="1900"/>
          </a:p>
          <a:p>
            <a:pPr indent="-349250" lvl="0" marL="914400" marR="0" rtl="0" algn="l">
              <a:lnSpc>
                <a:spcPct val="100000"/>
              </a:lnSpc>
              <a:spcBef>
                <a:spcPts val="0"/>
              </a:spcBef>
              <a:spcAft>
                <a:spcPts val="0"/>
              </a:spcAft>
              <a:buSzPts val="1900"/>
              <a:buChar char="❏"/>
            </a:pPr>
            <a:r>
              <a:rPr lang="en-US" sz="1900">
                <a:solidFill>
                  <a:schemeClr val="dk1"/>
                </a:solidFill>
              </a:rPr>
              <a:t>The same script computed the map error by quantifying pixel-level deviations between the generated SLAM maps.</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0" lvl="0" marL="0" marR="0" rtl="0" algn="l">
              <a:lnSpc>
                <a:spcPct val="100000"/>
              </a:lnSpc>
              <a:spcBef>
                <a:spcPts val="0"/>
              </a:spcBef>
              <a:spcAft>
                <a:spcPts val="0"/>
              </a:spcAft>
              <a:buNone/>
            </a:pPr>
            <a:r>
              <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The mapping error (eₘ) quantifies how closely the estimated map matches the ground-truth map.</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It is computed as the mean absolute error (MAE) between estimated and true positions.</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Each point (xᵢ, yᵢ) represents a </a:t>
            </a:r>
            <a:r>
              <a:rPr lang="en-US" sz="1900">
                <a:solidFill>
                  <a:schemeClr val="dk1"/>
                </a:solidFill>
              </a:rPr>
              <a:t>feature</a:t>
            </a:r>
            <a:r>
              <a:rPr lang="en-US" sz="1900">
                <a:solidFill>
                  <a:schemeClr val="dk1"/>
                </a:solidFill>
              </a:rPr>
              <a:t> location (e.g., wall or trunk) in the generated map.</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Each (xᵢᴳᵀ, yᵢᴳᵀ) represents the corresponding </a:t>
            </a:r>
            <a:r>
              <a:rPr lang="en-US" sz="1900">
                <a:solidFill>
                  <a:schemeClr val="dk1"/>
                </a:solidFill>
              </a:rPr>
              <a:t>feature</a:t>
            </a:r>
            <a:r>
              <a:rPr lang="en-US" sz="1900">
                <a:solidFill>
                  <a:schemeClr val="dk1"/>
                </a:solidFill>
              </a:rPr>
              <a:t> position in the ground-truth map.</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The term inside the square root measures the Euclidean distance between estimated and true positions.</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Dividing by N, the total number of points, gives the average positional deviation across the entire map.</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Smaller eₘ values indicate a more accurate and consistent SLAM-generated map.</a:t>
            </a:r>
            <a:endParaRPr sz="1900">
              <a:solidFill>
                <a:schemeClr val="dk1"/>
              </a:solidFill>
            </a:endParaRPr>
          </a:p>
          <a:p>
            <a:pPr indent="0" lvl="0" marL="0" marR="0" rtl="0" algn="l">
              <a:lnSpc>
                <a:spcPct val="100000"/>
              </a:lnSpc>
              <a:spcBef>
                <a:spcPts val="0"/>
              </a:spcBef>
              <a:spcAft>
                <a:spcPts val="0"/>
              </a:spcAft>
              <a:buNone/>
            </a:pPr>
            <a:r>
              <a:t/>
            </a:r>
            <a:endParaRPr b="0" i="0" sz="1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p:txBody>
      </p:sp>
      <p:sp>
        <p:nvSpPr>
          <p:cNvPr id="25" name="Google Shape;25;p1"/>
          <p:cNvSpPr/>
          <p:nvPr/>
        </p:nvSpPr>
        <p:spPr>
          <a:xfrm>
            <a:off x="652320" y="16349400"/>
            <a:ext cx="11742120" cy="5714640"/>
          </a:xfrm>
          <a:prstGeom prst="rect">
            <a:avLst/>
          </a:prstGeom>
          <a:noFill/>
          <a:ln cap="flat" cmpd="sng" w="203200">
            <a:solidFill>
              <a:srgbClr val="595959"/>
            </a:solidFill>
            <a:prstDash val="solid"/>
            <a:round/>
            <a:headEnd len="sm" w="sm" type="none"/>
            <a:tailEnd len="sm" w="sm" type="none"/>
          </a:ln>
        </p:spPr>
        <p:txBody>
          <a:bodyPr anchorCtr="0" anchor="t" bIns="274300" lIns="90000" spcFirstLastPara="1" rIns="274300" wrap="square" tIns="45000">
            <a:spAutoFit/>
          </a:bodyPr>
          <a:lstStyle/>
          <a:p>
            <a:pPr indent="0" lvl="0" marL="0" marR="0" rtl="0" algn="ctr">
              <a:lnSpc>
                <a:spcPct val="150000"/>
              </a:lnSpc>
              <a:spcBef>
                <a:spcPts val="0"/>
              </a:spcBef>
              <a:spcAft>
                <a:spcPts val="0"/>
              </a:spcAft>
              <a:buNone/>
            </a:pPr>
            <a:r>
              <a:rPr b="1" i="0" lang="en-US" sz="4400" u="none" cap="none" strike="noStrike">
                <a:solidFill>
                  <a:schemeClr val="dk1"/>
                </a:solidFill>
                <a:latin typeface="Calibri"/>
                <a:ea typeface="Calibri"/>
                <a:cs typeface="Calibri"/>
                <a:sym typeface="Calibri"/>
              </a:rPr>
              <a:t>BACKGROUND/PRIOR WORKS</a:t>
            </a:r>
            <a:endParaRPr b="0" i="0" sz="4400" u="none" cap="none" strike="noStrike">
              <a:solidFill>
                <a:srgbClr val="000000"/>
              </a:solidFill>
              <a:latin typeface="Arial"/>
              <a:ea typeface="Arial"/>
              <a:cs typeface="Arial"/>
              <a:sym typeface="Arial"/>
            </a:endParaRPr>
          </a:p>
          <a:p>
            <a:pPr indent="-425450" lvl="1" marL="914400" marR="0" rtl="0" algn="l">
              <a:lnSpc>
                <a:spcPct val="100000"/>
              </a:lnSpc>
              <a:spcBef>
                <a:spcPts val="0"/>
              </a:spcBef>
              <a:spcAft>
                <a:spcPts val="0"/>
              </a:spcAft>
              <a:buClr>
                <a:srgbClr val="000000"/>
              </a:buClr>
              <a:buSzPts val="2700"/>
              <a:buFont typeface="Noto Sans Symbols"/>
              <a:buChar char="❑"/>
            </a:pPr>
            <a:r>
              <a:rPr b="1" lang="en-US" sz="1900">
                <a:solidFill>
                  <a:schemeClr val="dk1"/>
                </a:solidFill>
              </a:rPr>
              <a:t>Li &amp; Zhu (2024)</a:t>
            </a:r>
            <a:r>
              <a:rPr lang="en-US" sz="1900">
                <a:solidFill>
                  <a:schemeClr val="dk1"/>
                </a:solidFill>
              </a:rPr>
              <a:t> evaluated three 2D LiDAR SLAM algorithms Hector, GMapping, and Cartographer n simulated orchard environments using Gazebo.</a:t>
            </a:r>
            <a:endParaRPr sz="1900">
              <a:solidFill>
                <a:schemeClr val="dk1"/>
              </a:solidFill>
            </a:endParaRPr>
          </a:p>
          <a:p>
            <a:pPr indent="-349250" lvl="2" marL="1371600" marR="0" rtl="0" algn="l">
              <a:lnSpc>
                <a:spcPct val="100000"/>
              </a:lnSpc>
              <a:spcBef>
                <a:spcPts val="0"/>
              </a:spcBef>
              <a:spcAft>
                <a:spcPts val="0"/>
              </a:spcAft>
              <a:buClr>
                <a:schemeClr val="dk1"/>
              </a:buClr>
              <a:buSzPts val="1900"/>
              <a:buChar char="■"/>
            </a:pPr>
            <a:r>
              <a:rPr lang="en-US" sz="1900">
                <a:solidFill>
                  <a:schemeClr val="dk1"/>
                </a:solidFill>
              </a:rPr>
              <a:t>Cartographer achieved the best localization and mapping accuracy (≈ 8 cm error at 4 cm resolution) but required more CPU and memory.</a:t>
            </a:r>
            <a:endParaRPr sz="1900">
              <a:solidFill>
                <a:schemeClr val="dk1"/>
              </a:solidFill>
            </a:endParaRPr>
          </a:p>
          <a:p>
            <a:pPr indent="-349250" lvl="2" marL="1371600" marR="0" rtl="0" algn="l">
              <a:lnSpc>
                <a:spcPct val="100000"/>
              </a:lnSpc>
              <a:spcBef>
                <a:spcPts val="0"/>
              </a:spcBef>
              <a:spcAft>
                <a:spcPts val="0"/>
              </a:spcAft>
              <a:buClr>
                <a:schemeClr val="dk1"/>
              </a:buClr>
              <a:buSzPts val="1900"/>
              <a:buChar char="■"/>
            </a:pPr>
            <a:r>
              <a:rPr lang="en-US" sz="1900">
                <a:solidFill>
                  <a:schemeClr val="dk1"/>
                </a:solidFill>
              </a:rPr>
              <a:t>The paper’s findings established a controlled simulation framework and performance metrics (localization error RMSE, mapping error MAE, CPU/memory usage) that serve as a standard benchmark for later SLAM comparisons.</a:t>
            </a:r>
            <a:endParaRPr sz="1900">
              <a:solidFill>
                <a:schemeClr val="dk1"/>
              </a:solidFill>
            </a:endParaRPr>
          </a:p>
          <a:p>
            <a:pPr indent="-349250" lvl="1" marL="914400" marR="0" rtl="0" algn="l">
              <a:lnSpc>
                <a:spcPct val="100000"/>
              </a:lnSpc>
              <a:spcBef>
                <a:spcPts val="0"/>
              </a:spcBef>
              <a:spcAft>
                <a:spcPts val="0"/>
              </a:spcAft>
              <a:buClr>
                <a:schemeClr val="dk1"/>
              </a:buClr>
              <a:buSzPts val="1900"/>
              <a:buChar char="❑"/>
            </a:pPr>
            <a:r>
              <a:rPr lang="en-US" sz="1900">
                <a:solidFill>
                  <a:schemeClr val="dk1"/>
                </a:solidFill>
              </a:rPr>
              <a:t>This project builds directly on Li &amp; Zhu’s work, applying their evaluation approach to real-world </a:t>
            </a:r>
            <a:r>
              <a:rPr lang="en-US" sz="1900">
                <a:solidFill>
                  <a:schemeClr val="dk1"/>
                </a:solidFill>
              </a:rPr>
              <a:t>TurtleBot 3</a:t>
            </a:r>
            <a:r>
              <a:rPr lang="en-US" sz="1900">
                <a:solidFill>
                  <a:schemeClr val="dk1"/>
                </a:solidFill>
              </a:rPr>
              <a:t> experiments in ROS 2, comparing SLAM Toolbox and Cartographer under identical maze conditions.</a:t>
            </a:r>
            <a:endParaRPr sz="1900">
              <a:solidFill>
                <a:schemeClr val="dk1"/>
              </a:solidFill>
            </a:endParaRPr>
          </a:p>
          <a:p>
            <a:pPr indent="-349250" lvl="1" marL="914400" marR="0" rtl="0" algn="l">
              <a:lnSpc>
                <a:spcPct val="100000"/>
              </a:lnSpc>
              <a:spcBef>
                <a:spcPts val="0"/>
              </a:spcBef>
              <a:spcAft>
                <a:spcPts val="0"/>
              </a:spcAft>
              <a:buClr>
                <a:schemeClr val="dk1"/>
              </a:buClr>
              <a:buSzPts val="1900"/>
              <a:buChar char="❑"/>
            </a:pPr>
            <a:r>
              <a:rPr lang="en-US" sz="1900">
                <a:solidFill>
                  <a:schemeClr val="dk1"/>
                </a:solidFill>
              </a:rPr>
              <a:t>Over the summer, I expanded the research by experimenting with an additional framework, TinySLAM, to observe how lightweight, scan-matching-based algorithms handle real-time mapping. Using </a:t>
            </a:r>
            <a:r>
              <a:rPr lang="en-US" sz="1900">
                <a:solidFill>
                  <a:schemeClr val="dk1"/>
                </a:solidFill>
              </a:rPr>
              <a:t>Python</a:t>
            </a:r>
            <a:r>
              <a:rPr lang="en-US" sz="1900">
                <a:solidFill>
                  <a:schemeClr val="dk1"/>
                </a:solidFill>
              </a:rPr>
              <a:t> Matplotlib, I visualized raw LiDAR data to better understand how different SLAM algorithms interpret spatial information and generate occupancy grids in real time.</a:t>
            </a:r>
            <a:endParaRPr sz="1900">
              <a:solidFill>
                <a:schemeClr val="dk1"/>
              </a:solidFil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p:txBody>
      </p:sp>
      <p:sp>
        <p:nvSpPr>
          <p:cNvPr id="26" name="Google Shape;26;p1"/>
          <p:cNvSpPr/>
          <p:nvPr/>
        </p:nvSpPr>
        <p:spPr>
          <a:xfrm>
            <a:off x="24409800" y="17477640"/>
            <a:ext cx="11513520" cy="8062200"/>
          </a:xfrm>
          <a:prstGeom prst="rect">
            <a:avLst/>
          </a:prstGeom>
          <a:noFill/>
          <a:ln cap="flat" cmpd="sng" w="203200">
            <a:solidFill>
              <a:srgbClr val="595959"/>
            </a:solidFill>
            <a:prstDash val="solid"/>
            <a:round/>
            <a:headEnd len="sm" w="sm" type="none"/>
            <a:tailEnd len="sm" w="sm" type="none"/>
          </a:ln>
        </p:spPr>
        <p:txBody>
          <a:bodyPr anchorCtr="0" anchor="t" bIns="182875" lIns="90000" spcFirstLastPara="1" rIns="90000" wrap="square" tIns="45000">
            <a:spAutoFit/>
          </a:bodyPr>
          <a:lstStyle/>
          <a:p>
            <a:pPr indent="0" lvl="0" marL="0" rtl="0" algn="ctr">
              <a:lnSpc>
                <a:spcPct val="150000"/>
              </a:lnSpc>
              <a:spcBef>
                <a:spcPts val="0"/>
              </a:spcBef>
              <a:spcAft>
                <a:spcPts val="0"/>
              </a:spcAft>
              <a:buNone/>
            </a:pPr>
            <a:r>
              <a:rPr b="1" lang="en-US" sz="4400">
                <a:solidFill>
                  <a:schemeClr val="dk1"/>
                </a:solidFill>
              </a:rPr>
              <a:t>DISCUSSION</a:t>
            </a:r>
            <a:endParaRPr b="1" sz="1900">
              <a:solidFill>
                <a:schemeClr val="dk1"/>
              </a:solidFill>
            </a:endParaRPr>
          </a:p>
          <a:p>
            <a:pPr indent="0" lvl="0" marL="0" marR="0" rtl="0" algn="l">
              <a:lnSpc>
                <a:spcPct val="100000"/>
              </a:lnSpc>
              <a:spcBef>
                <a:spcPts val="0"/>
              </a:spcBef>
              <a:spcAft>
                <a:spcPts val="0"/>
              </a:spcAft>
              <a:buNone/>
            </a:pPr>
            <a:r>
              <a:rPr lang="en-US" sz="1900"/>
              <a:t>The quantitative analysis further reinforces the visual findings: SLAM Toolbox achieved a lower mean map error of 18.19 px (≈ 94.56 cm) compared to Cartographer’s 32.46 px (≈ 162.29 cm), indicating substantially higher geometric precision relative to the ground-truth maze. This difference highlights SLAM Toolbox’s stronger local accuracy and its ability to preserve wall geometry during mapping, even when operating in confined environments with close-range LiDAR reflections.</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rPr lang="en-US" sz="1900"/>
              <a:t>The correlation coefficients (0.068 for SLAM Toolbox vs –0.020 for Cartographer) suggest that the Toolbox’s output maintains slightly better spatial agreement with the ground truth, whereas Cartographer’s results diverge more in localized regions. These findings align with the qualitative observation that SLAM Toolbox produces sharper, better-defined boundaries, while Cartographer favors globally smooth but less detailed reconstructions.</a:t>
            </a:r>
            <a:endParaRPr sz="1900"/>
          </a:p>
          <a:p>
            <a:pPr indent="0" lvl="0" marL="0" marR="0" rtl="0" algn="l">
              <a:lnSpc>
                <a:spcPct val="100000"/>
              </a:lnSpc>
              <a:spcBef>
                <a:spcPts val="0"/>
              </a:spcBef>
              <a:spcAft>
                <a:spcPts val="0"/>
              </a:spcAft>
              <a:buNone/>
            </a:pPr>
            <a:r>
              <a:t/>
            </a:r>
            <a:endParaRPr sz="1900"/>
          </a:p>
          <a:p>
            <a:pPr indent="0" lvl="0" marL="0" marR="0" rtl="0" algn="l">
              <a:lnSpc>
                <a:spcPct val="100000"/>
              </a:lnSpc>
              <a:spcBef>
                <a:spcPts val="0"/>
              </a:spcBef>
              <a:spcAft>
                <a:spcPts val="0"/>
              </a:spcAft>
              <a:buNone/>
            </a:pPr>
            <a:r>
              <a:rPr lang="en-US" sz="1900"/>
              <a:t>Overall, the results confirm that algorithmic design trade-offs directly affect mapping fidelity. Cartographer’s smoothing heuristics promote global continuity but can blur finer structures, whereas SLAM Toolbox’s pose-graph optimization preserves local accuracy. The improved error computation and fine-alignment overlay introduced in this study provide a more objective framework for comparing SLAM performance, offering a reproducible method for future evaluations of mapping accuracy in ROS-based robotic systems.</a:t>
            </a:r>
            <a:endParaRPr sz="1900"/>
          </a:p>
          <a:p>
            <a:pPr indent="0" lvl="0" marL="0" marR="0" rtl="0" algn="l">
              <a:lnSpc>
                <a:spcPct val="100000"/>
              </a:lnSpc>
              <a:spcBef>
                <a:spcPts val="0"/>
              </a:spcBef>
              <a:spcAft>
                <a:spcPts val="0"/>
              </a:spcAft>
              <a:buNone/>
            </a:pPr>
            <a:r>
              <a:t/>
            </a:r>
            <a:endParaRPr sz="3200"/>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p:txBody>
      </p:sp>
      <p:sp>
        <p:nvSpPr>
          <p:cNvPr id="27" name="Google Shape;27;p1"/>
          <p:cNvSpPr/>
          <p:nvPr/>
        </p:nvSpPr>
        <p:spPr>
          <a:xfrm>
            <a:off x="24409800" y="26006040"/>
            <a:ext cx="11513520" cy="2544120"/>
          </a:xfrm>
          <a:prstGeom prst="rect">
            <a:avLst/>
          </a:prstGeom>
          <a:noFill/>
          <a:ln cap="flat" cmpd="sng" w="203200">
            <a:solidFill>
              <a:srgbClr val="595959"/>
            </a:solidFill>
            <a:prstDash val="solid"/>
            <a:round/>
            <a:headEnd len="sm" w="sm" type="none"/>
            <a:tailEnd len="sm" w="sm" type="none"/>
          </a:ln>
        </p:spPr>
        <p:txBody>
          <a:bodyPr anchorCtr="0" anchor="t" bIns="274300" lIns="90000" spcFirstLastPara="1" rIns="90000" wrap="square" tIns="45000">
            <a:spAutoFit/>
          </a:bodyPr>
          <a:lstStyle/>
          <a:p>
            <a:pPr indent="0" lvl="0" marL="0" marR="0" rtl="0" algn="ctr">
              <a:lnSpc>
                <a:spcPct val="150000"/>
              </a:lnSpc>
              <a:spcBef>
                <a:spcPts val="0"/>
              </a:spcBef>
              <a:spcAft>
                <a:spcPts val="0"/>
              </a:spcAft>
              <a:buNone/>
            </a:pPr>
            <a:r>
              <a:rPr b="1" i="0" lang="en-US" sz="4400" u="none" cap="none" strike="noStrike">
                <a:solidFill>
                  <a:schemeClr val="dk1"/>
                </a:solidFill>
                <a:latin typeface="Calibri"/>
                <a:ea typeface="Calibri"/>
                <a:cs typeface="Calibri"/>
                <a:sym typeface="Calibri"/>
              </a:rPr>
              <a:t>REFERENCES</a:t>
            </a:r>
            <a:endParaRPr b="0" i="0" sz="4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000000"/>
              </a:buClr>
              <a:buSzPts val="1400"/>
              <a:buFont typeface="Arial"/>
              <a:buChar char="❏"/>
            </a:pPr>
            <a:r>
              <a:rPr lang="en-US"/>
              <a:t>ROBOTIS. (n.d.). TurtleBot3 quick start guide. ROBOTIS e-Manual. Retrieved November 2, 2025, from </a:t>
            </a:r>
            <a:r>
              <a:rPr lang="en-US" u="sng">
                <a:solidFill>
                  <a:schemeClr val="hlink"/>
                </a:solidFill>
                <a:hlinkClick r:id="rId3"/>
              </a:rPr>
              <a:t>https://emanual.robotis.com/docs/en/platform/turtlebot3/quick-start/</a:t>
            </a:r>
            <a:endParaRPr/>
          </a:p>
          <a:p>
            <a:pPr indent="-317500" lvl="0" marL="457200" marR="0" rtl="0" algn="l">
              <a:lnSpc>
                <a:spcPct val="100000"/>
              </a:lnSpc>
              <a:spcBef>
                <a:spcPts val="0"/>
              </a:spcBef>
              <a:spcAft>
                <a:spcPts val="0"/>
              </a:spcAft>
              <a:buSzPts val="1400"/>
              <a:buChar char="❏"/>
            </a:pPr>
            <a:r>
              <a:rPr lang="en-US"/>
              <a:t>Articulated Robotics. (n.d.). Getting ready to build a ROS robot. Retrieved November 2, 2025, from </a:t>
            </a:r>
            <a:r>
              <a:rPr lang="en-US" u="sng">
                <a:solidFill>
                  <a:schemeClr val="hlink"/>
                </a:solidFill>
                <a:hlinkClick r:id="rId4"/>
              </a:rPr>
              <a:t>https://articulatedrobotics.xyz/category/getting-ready-to-build-a-ros-robot</a:t>
            </a:r>
            <a:r>
              <a:rPr lang="en-US"/>
              <a:t> </a:t>
            </a:r>
            <a:endParaRPr/>
          </a:p>
          <a:p>
            <a:pPr indent="-317500" lvl="0" marL="457200" marR="0" rtl="0" algn="l">
              <a:lnSpc>
                <a:spcPct val="100000"/>
              </a:lnSpc>
              <a:spcBef>
                <a:spcPts val="0"/>
              </a:spcBef>
              <a:spcAft>
                <a:spcPts val="0"/>
              </a:spcAft>
              <a:buSzPts val="1400"/>
              <a:buChar char="❏"/>
            </a:pPr>
            <a:r>
              <a:rPr lang="en-US"/>
              <a:t>Li, Q., &amp; Zhu, H. (2024). Performance evaluation of 2D LiDAR SLAM algorithms in simulated orchard environments. Computers and Electronics in Agriculture, 221, 108994. https://doi.org/10.1016/j.compag.2024.108994</a:t>
            </a:r>
            <a:endParaRPr/>
          </a:p>
          <a:p>
            <a:pPr indent="0" lvl="0" marL="457200" marR="0" rtl="0" algn="l">
              <a:lnSpc>
                <a:spcPct val="100000"/>
              </a:lnSpc>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8" name="Google Shape;28;p1"/>
          <p:cNvSpPr/>
          <p:nvPr/>
        </p:nvSpPr>
        <p:spPr>
          <a:xfrm>
            <a:off x="667080" y="22798800"/>
            <a:ext cx="11742120" cy="5760360"/>
          </a:xfrm>
          <a:prstGeom prst="rect">
            <a:avLst/>
          </a:prstGeom>
          <a:noFill/>
          <a:ln cap="flat" cmpd="sng" w="203200">
            <a:solidFill>
              <a:srgbClr val="595959"/>
            </a:solidFill>
            <a:prstDash val="solid"/>
            <a:round/>
            <a:headEnd len="sm" w="sm" type="none"/>
            <a:tailEnd len="sm" w="sm" type="none"/>
          </a:ln>
        </p:spPr>
        <p:txBody>
          <a:bodyPr anchorCtr="0" anchor="t" bIns="320025" lIns="90000" spcFirstLastPara="1" rIns="90000" wrap="square" tIns="45000">
            <a:spAutoFit/>
          </a:bodyPr>
          <a:lstStyle/>
          <a:p>
            <a:pPr indent="0" lvl="0" marL="0" marR="0" rtl="0" algn="ctr">
              <a:lnSpc>
                <a:spcPct val="150000"/>
              </a:lnSpc>
              <a:spcBef>
                <a:spcPts val="0"/>
              </a:spcBef>
              <a:spcAft>
                <a:spcPts val="0"/>
              </a:spcAft>
              <a:buNone/>
            </a:pPr>
            <a:r>
              <a:rPr b="1" i="0" lang="en-US" sz="4400" u="none" cap="none" strike="noStrike">
                <a:solidFill>
                  <a:schemeClr val="dk1"/>
                </a:solidFill>
                <a:latin typeface="Calibri"/>
                <a:ea typeface="Calibri"/>
                <a:cs typeface="Calibri"/>
                <a:sym typeface="Calibri"/>
              </a:rPr>
              <a:t>PROBLEM FORMULATION</a:t>
            </a:r>
            <a:endParaRPr b="0" i="0" sz="4400" u="none" cap="none" strike="noStrike">
              <a:solidFill>
                <a:srgbClr val="000000"/>
              </a:solidFill>
              <a:latin typeface="Arial"/>
              <a:ea typeface="Arial"/>
              <a:cs typeface="Arial"/>
              <a:sym typeface="Aria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The study compares Cartographer and SLAM Toolbox to determine which SLAM algorithm generates more accurate and consistent maps under identical conditions.</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Although both are widely used for autonomous navigation, performance differences arise from sensor noise, environment geometry, and algorithm design.</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These variations directly influence a robot’s ability to localize and navigate effectively.</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A controlled maze environment with fixed ground-truth dimensions was used to ensure fair testing and repeatable conditions.</a:t>
            </a:r>
            <a:endParaRPr sz="1900">
              <a:solidFill>
                <a:schemeClr val="dk1"/>
              </a:solidFill>
            </a:endParaRPr>
          </a:p>
          <a:p>
            <a:pPr indent="-349250" lvl="0" marL="914400" marR="0" rtl="0" algn="l">
              <a:lnSpc>
                <a:spcPct val="100000"/>
              </a:lnSpc>
              <a:spcBef>
                <a:spcPts val="0"/>
              </a:spcBef>
              <a:spcAft>
                <a:spcPts val="0"/>
              </a:spcAft>
              <a:buClr>
                <a:schemeClr val="dk1"/>
              </a:buClr>
              <a:buSzPts val="1900"/>
              <a:buChar char="❏"/>
            </a:pPr>
            <a:r>
              <a:rPr lang="en-US" sz="1900">
                <a:solidFill>
                  <a:schemeClr val="dk1"/>
                </a:solidFill>
              </a:rPr>
              <a:t>The experiment quantifies mapping accuracy, reliability, and structural fidelity, identifying which algorithm provides superior geometric precision for the </a:t>
            </a:r>
            <a:r>
              <a:rPr lang="en-US" sz="1900">
                <a:solidFill>
                  <a:schemeClr val="dk1"/>
                </a:solidFill>
              </a:rPr>
              <a:t>TurtleBot 3</a:t>
            </a:r>
            <a:r>
              <a:rPr lang="en-US" sz="1900">
                <a:solidFill>
                  <a:schemeClr val="dk1"/>
                </a:solidFill>
              </a:rPr>
              <a:t> platform.</a:t>
            </a:r>
            <a:endParaRPr sz="1900">
              <a:solidFill>
                <a:schemeClr val="dk1"/>
              </a:solidFill>
            </a:endParaRPr>
          </a:p>
          <a:p>
            <a:pPr indent="0" lvl="0" marL="45720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45720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45720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3200" u="none" cap="none" strike="noStrike">
              <a:solidFill>
                <a:srgbClr val="000000"/>
              </a:solidFill>
              <a:latin typeface="Arial"/>
              <a:ea typeface="Arial"/>
              <a:cs typeface="Arial"/>
              <a:sym typeface="Arial"/>
            </a:endParaRPr>
          </a:p>
        </p:txBody>
      </p:sp>
      <p:pic>
        <p:nvPicPr>
          <p:cNvPr id="29" name="Google Shape;29;p1"/>
          <p:cNvPicPr preferRelativeResize="0"/>
          <p:nvPr/>
        </p:nvPicPr>
        <p:blipFill rotWithShape="1">
          <a:blip r:embed="rId5">
            <a:alphaModFix/>
          </a:blip>
          <a:srcRect b="0" l="0" r="0" t="0"/>
          <a:stretch/>
        </p:blipFill>
        <p:spPr>
          <a:xfrm>
            <a:off x="621720" y="118440"/>
            <a:ext cx="7559640" cy="4048920"/>
          </a:xfrm>
          <a:prstGeom prst="rect">
            <a:avLst/>
          </a:prstGeom>
          <a:noFill/>
          <a:ln>
            <a:noFill/>
          </a:ln>
        </p:spPr>
      </p:pic>
      <p:pic>
        <p:nvPicPr>
          <p:cNvPr id="30" name="Google Shape;30;p1" title="turtlebot3_burger_components.png"/>
          <p:cNvPicPr preferRelativeResize="0"/>
          <p:nvPr/>
        </p:nvPicPr>
        <p:blipFill>
          <a:blip r:embed="rId6">
            <a:alphaModFix/>
          </a:blip>
          <a:stretch>
            <a:fillRect/>
          </a:stretch>
        </p:blipFill>
        <p:spPr>
          <a:xfrm>
            <a:off x="5148824" y="6458675"/>
            <a:ext cx="2778616" cy="2544100"/>
          </a:xfrm>
          <a:prstGeom prst="rect">
            <a:avLst/>
          </a:prstGeom>
          <a:noFill/>
          <a:ln cap="flat" cmpd="sng" w="9525">
            <a:solidFill>
              <a:srgbClr val="595959"/>
            </a:solidFill>
            <a:prstDash val="solid"/>
            <a:round/>
            <a:headEnd len="sm" w="sm" type="none"/>
            <a:tailEnd len="sm" w="sm" type="none"/>
          </a:ln>
        </p:spPr>
      </p:pic>
      <p:pic>
        <p:nvPicPr>
          <p:cNvPr id="31" name="Google Shape;31;p1" title="formula.png"/>
          <p:cNvPicPr preferRelativeResize="0"/>
          <p:nvPr/>
        </p:nvPicPr>
        <p:blipFill>
          <a:blip r:embed="rId7">
            <a:alphaModFix/>
          </a:blip>
          <a:stretch>
            <a:fillRect/>
          </a:stretch>
        </p:blipFill>
        <p:spPr>
          <a:xfrm>
            <a:off x="13428563" y="22316200"/>
            <a:ext cx="10215875" cy="2133850"/>
          </a:xfrm>
          <a:prstGeom prst="rect">
            <a:avLst/>
          </a:prstGeom>
          <a:noFill/>
          <a:ln cap="flat" cmpd="sng" w="19050">
            <a:solidFill>
              <a:srgbClr val="595959"/>
            </a:solidFill>
            <a:prstDash val="solid"/>
            <a:round/>
            <a:headEnd len="sm" w="sm" type="none"/>
            <a:tailEnd len="sm" w="sm" type="none"/>
          </a:ln>
        </p:spPr>
      </p:pic>
      <p:pic>
        <p:nvPicPr>
          <p:cNvPr id="32" name="Google Shape;32;p1" title="Black&amp;Wite_testEnv.png"/>
          <p:cNvPicPr preferRelativeResize="0"/>
          <p:nvPr/>
        </p:nvPicPr>
        <p:blipFill>
          <a:blip r:embed="rId8">
            <a:alphaModFix/>
          </a:blip>
          <a:stretch>
            <a:fillRect/>
          </a:stretch>
        </p:blipFill>
        <p:spPr>
          <a:xfrm>
            <a:off x="4087762" y="11940475"/>
            <a:ext cx="4900750" cy="3267200"/>
          </a:xfrm>
          <a:prstGeom prst="rect">
            <a:avLst/>
          </a:prstGeom>
          <a:noFill/>
          <a:ln>
            <a:noFill/>
          </a:ln>
        </p:spPr>
      </p:pic>
      <p:pic>
        <p:nvPicPr>
          <p:cNvPr id="33" name="Google Shape;33;p1" title="aligned_slam.png"/>
          <p:cNvPicPr preferRelativeResize="0"/>
          <p:nvPr/>
        </p:nvPicPr>
        <p:blipFill>
          <a:blip r:embed="rId9">
            <a:alphaModFix/>
          </a:blip>
          <a:stretch>
            <a:fillRect/>
          </a:stretch>
        </p:blipFill>
        <p:spPr>
          <a:xfrm>
            <a:off x="15981070" y="12447050"/>
            <a:ext cx="4613515" cy="2837640"/>
          </a:xfrm>
          <a:prstGeom prst="rect">
            <a:avLst/>
          </a:prstGeom>
          <a:noFill/>
          <a:ln cap="flat" cmpd="sng" w="19050">
            <a:solidFill>
              <a:srgbClr val="595959"/>
            </a:solidFill>
            <a:prstDash val="solid"/>
            <a:round/>
            <a:headEnd len="sm" w="sm" type="none"/>
            <a:tailEnd len="sm" w="sm" type="none"/>
          </a:ln>
        </p:spPr>
      </p:pic>
      <p:pic>
        <p:nvPicPr>
          <p:cNvPr id="34" name="Google Shape;34;p1" title="aligned_cartographer.png"/>
          <p:cNvPicPr preferRelativeResize="0"/>
          <p:nvPr/>
        </p:nvPicPr>
        <p:blipFill>
          <a:blip r:embed="rId10">
            <a:alphaModFix/>
          </a:blip>
          <a:stretch>
            <a:fillRect/>
          </a:stretch>
        </p:blipFill>
        <p:spPr>
          <a:xfrm>
            <a:off x="15981238" y="8939175"/>
            <a:ext cx="4613500" cy="2933768"/>
          </a:xfrm>
          <a:prstGeom prst="rect">
            <a:avLst/>
          </a:prstGeom>
          <a:noFill/>
          <a:ln cap="flat" cmpd="sng" w="19050">
            <a:solidFill>
              <a:srgbClr val="595959"/>
            </a:solidFill>
            <a:prstDash val="solid"/>
            <a:round/>
            <a:headEnd len="sm" w="sm" type="none"/>
            <a:tailEnd len="sm" w="sm" type="none"/>
          </a:ln>
        </p:spPr>
      </p:pic>
      <p:graphicFrame>
        <p:nvGraphicFramePr>
          <p:cNvPr id="35" name="Google Shape;35;p1"/>
          <p:cNvGraphicFramePr/>
          <p:nvPr/>
        </p:nvGraphicFramePr>
        <p:xfrm>
          <a:off x="24775350" y="6458675"/>
          <a:ext cx="3000000" cy="3000000"/>
        </p:xfrm>
        <a:graphic>
          <a:graphicData uri="http://schemas.openxmlformats.org/drawingml/2006/table">
            <a:tbl>
              <a:tblPr>
                <a:noFill/>
                <a:tableStyleId>{45C8E1AD-17B0-4AE8-800A-B4D428C9FFEB}</a:tableStyleId>
              </a:tblPr>
              <a:tblGrid>
                <a:gridCol w="2695600"/>
                <a:gridCol w="2695600"/>
                <a:gridCol w="2695600"/>
                <a:gridCol w="2695600"/>
              </a:tblGrid>
              <a:tr h="921975">
                <a:tc>
                  <a:txBody>
                    <a:bodyPr/>
                    <a:lstStyle/>
                    <a:p>
                      <a:pPr indent="0" lvl="0" marL="0" rtl="0" algn="ctr">
                        <a:spcBef>
                          <a:spcPts val="0"/>
                        </a:spcBef>
                        <a:spcAft>
                          <a:spcPts val="0"/>
                        </a:spcAft>
                        <a:buNone/>
                      </a:pPr>
                      <a:r>
                        <a:rPr b="1" lang="en-US" sz="2800"/>
                        <a:t>Algorithm</a:t>
                      </a:r>
                      <a:endParaRPr b="1" sz="2800"/>
                    </a:p>
                  </a:txBody>
                  <a:tcPr marT="91425" marB="91425" marR="91425" marL="91425"/>
                </a:tc>
                <a:tc>
                  <a:txBody>
                    <a:bodyPr/>
                    <a:lstStyle/>
                    <a:p>
                      <a:pPr indent="0" lvl="0" marL="0" rtl="0" algn="ctr">
                        <a:spcBef>
                          <a:spcPts val="0"/>
                        </a:spcBef>
                        <a:spcAft>
                          <a:spcPts val="0"/>
                        </a:spcAft>
                        <a:buNone/>
                      </a:pPr>
                      <a:r>
                        <a:rPr b="1" lang="en-US" sz="2800"/>
                        <a:t>Mean Map Error (px)</a:t>
                      </a:r>
                      <a:endParaRPr b="1" sz="2800"/>
                    </a:p>
                  </a:txBody>
                  <a:tcPr marT="91425" marB="91425" marR="91425" marL="91425"/>
                </a:tc>
                <a:tc>
                  <a:txBody>
                    <a:bodyPr/>
                    <a:lstStyle/>
                    <a:p>
                      <a:pPr indent="0" lvl="0" marL="0" rtl="0" algn="ctr">
                        <a:spcBef>
                          <a:spcPts val="0"/>
                        </a:spcBef>
                        <a:spcAft>
                          <a:spcPts val="0"/>
                        </a:spcAft>
                        <a:buNone/>
                      </a:pPr>
                      <a:r>
                        <a:rPr b="1" lang="en-US" sz="2800"/>
                        <a:t>Mean Map Error (cm)*</a:t>
                      </a:r>
                      <a:endParaRPr b="1" sz="2800"/>
                    </a:p>
                  </a:txBody>
                  <a:tcPr marT="91425" marB="91425" marR="91425" marL="91425"/>
                </a:tc>
                <a:tc>
                  <a:txBody>
                    <a:bodyPr/>
                    <a:lstStyle/>
                    <a:p>
                      <a:pPr indent="0" lvl="0" marL="0" rtl="0" algn="ctr">
                        <a:spcBef>
                          <a:spcPts val="0"/>
                        </a:spcBef>
                        <a:spcAft>
                          <a:spcPts val="0"/>
                        </a:spcAft>
                        <a:buNone/>
                      </a:pPr>
                      <a:r>
                        <a:rPr b="1" lang="en-US" sz="2800"/>
                        <a:t>Correlation Coefficient</a:t>
                      </a:r>
                      <a:endParaRPr b="1" sz="2800"/>
                    </a:p>
                  </a:txBody>
                  <a:tcPr marT="91425" marB="91425" marR="91425" marL="91425"/>
                </a:tc>
              </a:tr>
              <a:tr h="973300">
                <a:tc>
                  <a:txBody>
                    <a:bodyPr/>
                    <a:lstStyle/>
                    <a:p>
                      <a:pPr indent="0" lvl="0" marL="0" rtl="0" algn="l">
                        <a:spcBef>
                          <a:spcPts val="0"/>
                        </a:spcBef>
                        <a:spcAft>
                          <a:spcPts val="0"/>
                        </a:spcAft>
                        <a:buNone/>
                      </a:pPr>
                      <a:r>
                        <a:rPr lang="en-US" sz="1900"/>
                        <a:t>SLAM Toolbox</a:t>
                      </a:r>
                      <a:endParaRPr sz="1900"/>
                    </a:p>
                  </a:txBody>
                  <a:tcPr marT="91425" marB="91425" marR="91425" marL="91425"/>
                </a:tc>
                <a:tc>
                  <a:txBody>
                    <a:bodyPr/>
                    <a:lstStyle/>
                    <a:p>
                      <a:pPr indent="0" lvl="0" marL="0" rtl="0" algn="l">
                        <a:spcBef>
                          <a:spcPts val="0"/>
                        </a:spcBef>
                        <a:spcAft>
                          <a:spcPts val="0"/>
                        </a:spcAft>
                        <a:buNone/>
                      </a:pPr>
                      <a:r>
                        <a:rPr lang="en-US" sz="1900"/>
                        <a:t>18.19</a:t>
                      </a:r>
                      <a:endParaRPr sz="1900"/>
                    </a:p>
                  </a:txBody>
                  <a:tcPr marT="91425" marB="91425" marR="91425" marL="91425"/>
                </a:tc>
                <a:tc>
                  <a:txBody>
                    <a:bodyPr/>
                    <a:lstStyle/>
                    <a:p>
                      <a:pPr indent="0" lvl="0" marL="0" rtl="0" algn="l">
                        <a:spcBef>
                          <a:spcPts val="0"/>
                        </a:spcBef>
                        <a:spcAft>
                          <a:spcPts val="0"/>
                        </a:spcAft>
                        <a:buNone/>
                      </a:pPr>
                      <a:r>
                        <a:rPr lang="en-US" sz="1900"/>
                        <a:t>94.56</a:t>
                      </a:r>
                      <a:endParaRPr sz="1900"/>
                    </a:p>
                  </a:txBody>
                  <a:tcPr marT="91425" marB="91425" marR="91425" marL="91425"/>
                </a:tc>
                <a:tc>
                  <a:txBody>
                    <a:bodyPr/>
                    <a:lstStyle/>
                    <a:p>
                      <a:pPr indent="0" lvl="0" marL="0" rtl="0" algn="l">
                        <a:spcBef>
                          <a:spcPts val="0"/>
                        </a:spcBef>
                        <a:spcAft>
                          <a:spcPts val="0"/>
                        </a:spcAft>
                        <a:buNone/>
                      </a:pPr>
                      <a:r>
                        <a:rPr lang="en-US" sz="1900"/>
                        <a:t>0.068 </a:t>
                      </a:r>
                      <a:endParaRPr sz="1900"/>
                    </a:p>
                  </a:txBody>
                  <a:tcPr marT="91425" marB="91425" marR="91425" marL="91425"/>
                </a:tc>
              </a:tr>
              <a:tr h="973300">
                <a:tc>
                  <a:txBody>
                    <a:bodyPr/>
                    <a:lstStyle/>
                    <a:p>
                      <a:pPr indent="0" lvl="0" marL="0" rtl="0" algn="l">
                        <a:spcBef>
                          <a:spcPts val="0"/>
                        </a:spcBef>
                        <a:spcAft>
                          <a:spcPts val="0"/>
                        </a:spcAft>
                        <a:buNone/>
                      </a:pPr>
                      <a:r>
                        <a:rPr lang="en-US" sz="1900"/>
                        <a:t>Cartographer</a:t>
                      </a:r>
                      <a:endParaRPr sz="1900"/>
                    </a:p>
                  </a:txBody>
                  <a:tcPr marT="91425" marB="91425" marR="91425" marL="91425"/>
                </a:tc>
                <a:tc>
                  <a:txBody>
                    <a:bodyPr/>
                    <a:lstStyle/>
                    <a:p>
                      <a:pPr indent="0" lvl="0" marL="0" rtl="0" algn="l">
                        <a:spcBef>
                          <a:spcPts val="0"/>
                        </a:spcBef>
                        <a:spcAft>
                          <a:spcPts val="0"/>
                        </a:spcAft>
                        <a:buNone/>
                      </a:pPr>
                      <a:r>
                        <a:rPr lang="en-US" sz="1900"/>
                        <a:t>32.46</a:t>
                      </a:r>
                      <a:endParaRPr sz="1900"/>
                    </a:p>
                  </a:txBody>
                  <a:tcPr marT="91425" marB="91425" marR="91425" marL="91425"/>
                </a:tc>
                <a:tc>
                  <a:txBody>
                    <a:bodyPr/>
                    <a:lstStyle/>
                    <a:p>
                      <a:pPr indent="0" lvl="0" marL="0" rtl="0" algn="l">
                        <a:spcBef>
                          <a:spcPts val="0"/>
                        </a:spcBef>
                        <a:spcAft>
                          <a:spcPts val="0"/>
                        </a:spcAft>
                        <a:buNone/>
                      </a:pPr>
                      <a:r>
                        <a:rPr lang="en-US" sz="1900"/>
                        <a:t>162.29  </a:t>
                      </a:r>
                      <a:endParaRPr sz="1900"/>
                    </a:p>
                  </a:txBody>
                  <a:tcPr marT="91425" marB="91425" marR="91425" marL="91425"/>
                </a:tc>
                <a:tc>
                  <a:txBody>
                    <a:bodyPr/>
                    <a:lstStyle/>
                    <a:p>
                      <a:pPr indent="0" lvl="0" marL="0" rtl="0" algn="l">
                        <a:spcBef>
                          <a:spcPts val="0"/>
                        </a:spcBef>
                        <a:spcAft>
                          <a:spcPts val="0"/>
                        </a:spcAft>
                        <a:buNone/>
                      </a:pPr>
                      <a:r>
                        <a:rPr lang="en-US" sz="1900"/>
                        <a:t>-0.020  </a:t>
                      </a:r>
                      <a:endParaRPr sz="1900"/>
                    </a:p>
                  </a:txBody>
                  <a:tcPr marT="91425" marB="91425" marR="91425" marL="91425"/>
                </a:tc>
              </a:tr>
            </a:tbl>
          </a:graphicData>
        </a:graphic>
      </p:graphicFrame>
      <p:pic>
        <p:nvPicPr>
          <p:cNvPr id="36" name="Google Shape;36;p1" title="aligned_cartographer.png"/>
          <p:cNvPicPr preferRelativeResize="0"/>
          <p:nvPr/>
        </p:nvPicPr>
        <p:blipFill>
          <a:blip r:embed="rId10">
            <a:alphaModFix/>
          </a:blip>
          <a:stretch>
            <a:fillRect/>
          </a:stretch>
        </p:blipFill>
        <p:spPr>
          <a:xfrm>
            <a:off x="24964738" y="9821888"/>
            <a:ext cx="4613500" cy="2933768"/>
          </a:xfrm>
          <a:prstGeom prst="rect">
            <a:avLst/>
          </a:prstGeom>
          <a:noFill/>
          <a:ln cap="flat" cmpd="sng" w="19050">
            <a:solidFill>
              <a:srgbClr val="595959"/>
            </a:solidFill>
            <a:prstDash val="solid"/>
            <a:round/>
            <a:headEnd len="sm" w="sm" type="none"/>
            <a:tailEnd len="sm" w="sm" type="none"/>
          </a:ln>
        </p:spPr>
      </p:pic>
      <p:pic>
        <p:nvPicPr>
          <p:cNvPr id="37" name="Google Shape;37;p1" title="aligned_slam.png"/>
          <p:cNvPicPr preferRelativeResize="0"/>
          <p:nvPr/>
        </p:nvPicPr>
        <p:blipFill>
          <a:blip r:embed="rId9">
            <a:alphaModFix/>
          </a:blip>
          <a:stretch>
            <a:fillRect/>
          </a:stretch>
        </p:blipFill>
        <p:spPr>
          <a:xfrm>
            <a:off x="30487070" y="9869950"/>
            <a:ext cx="4613515" cy="2837640"/>
          </a:xfrm>
          <a:prstGeom prst="rect">
            <a:avLst/>
          </a:prstGeom>
          <a:noFill/>
          <a:ln cap="flat" cmpd="sng" w="19050">
            <a:solidFill>
              <a:srgbClr val="595959"/>
            </a:solidFill>
            <a:prstDash val="solid"/>
            <a:round/>
            <a:headEnd len="sm" w="sm" type="none"/>
            <a:tailEnd len="sm" w="sm" type="none"/>
          </a:ln>
        </p:spPr>
      </p:pic>
      <p:pic>
        <p:nvPicPr>
          <p:cNvPr id="38" name="Google Shape;38;p1" title="aligned_overlay_preview.png"/>
          <p:cNvPicPr preferRelativeResize="0"/>
          <p:nvPr/>
        </p:nvPicPr>
        <p:blipFill>
          <a:blip r:embed="rId11">
            <a:alphaModFix/>
          </a:blip>
          <a:stretch>
            <a:fillRect/>
          </a:stretch>
        </p:blipFill>
        <p:spPr>
          <a:xfrm>
            <a:off x="15981075" y="16493688"/>
            <a:ext cx="4613500" cy="4613526"/>
          </a:xfrm>
          <a:prstGeom prst="rect">
            <a:avLst/>
          </a:prstGeom>
          <a:noFill/>
          <a:ln cap="flat" cmpd="sng" w="19050">
            <a:solidFill>
              <a:srgbClr val="595959"/>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2017-11-29T07:25:31Z</dcterms:created>
  <dc:creator>Dominique Lao</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vt:i4>
  </property>
</Properties>
</file>